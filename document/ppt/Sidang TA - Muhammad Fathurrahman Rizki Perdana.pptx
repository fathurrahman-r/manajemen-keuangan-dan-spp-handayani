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761"/>
                </a:solidFill>
                <a:latin typeface="Cambria"/>
              </a:defRPr>
            </a:pPr>
            <a:r>
              <a:rPr sz="1200" b="0" i="0" u="none" strike="noStrike">
                <a:solidFill>
                  <a:srgbClr val="1E2761"/>
                </a:solidFill>
                <a:latin typeface="Cambria"/>
              </a:rPr>
              <a:t>Kasus Uji PASS per Kelompok Fitur</a:t>
            </a:r>
          </a:p>
        </c:rich>
      </c:tx>
      <c:layout/>
      <c:overlay val="0"/>
    </c:title>
    <c:autoTitleDeleted val="0"/>
    <c:plotArea>
      <c:layout/>
      <c:barChart>
        <c:barDir val="bar"/>
        <c:grouping val="clustered"/>
        <c:varyColors val="0"/>
        <c:ser>
          <c:idx val="0"/>
          <c:order val="0"/>
          <c:tx>
            <c:strRef>
              <c:f>Sheet1!$B$1</c:f>
              <c:strCache>
                <c:ptCount val="1"/>
                <c:pt idx="0">
                  <c:v>Kasus uji PASS</c:v>
                </c:pt>
              </c:strCache>
            </c:strRef>
          </c:tx>
          <c:spPr>
            <a:solidFill>
              <a:srgbClr val="1E2761"/>
            </a:solidFill>
            <a:effectLst/>
          </c:spPr>
          <c:invertIfNegative val="0"/>
          <c:dLbls>
            <c:numFmt formatCode="#,##0" sourceLinked="0"/>
            <c:txPr>
              <a:bodyPr/>
              <a:lstStyle/>
              <a:p>
                <a:pPr>
                  <a:defRPr b="0" i="0" strike="noStrike" sz="950" u="none">
                    <a:solidFill>
                      <a:srgbClr val="1B2138"/>
                    </a:solidFill>
                    <a:latin typeface="Calibri"/>
                  </a:defRPr>
                </a:pPr>
              </a:p>
            </c:txPr>
            <c:showLegendKey val="0"/>
            <c:showVal val="1"/>
            <c:showCatName val="0"/>
            <c:showSerName val="0"/>
            <c:showPercent val="0"/>
            <c:showBubbleSize val="0"/>
            <c:showLeaderLines val="0"/>
          </c:dLbls>
          <c:cat>
            <c:multiLvlStrRef>
              <c:f>Sheet1!$A$2:$A$9</c:f>
              <c:multiLvlStrCache>
                <c:ptCount val="8"/>
                <c:lvl>
                  <c:pt idx="0">
                    <c:v>Manajemen &amp; Keamanan Akun</c:v>
                  </c:pt>
                  <c:pt idx="1">
                    <c:v>Detail Profil &amp; UI</c:v>
                  </c:pt>
                  <c:pt idx="2">
                    <c:v>Import/Export</c:v>
                  </c:pt>
                  <c:pt idx="3">
                    <c:v>Tahun Ajaran &amp; Akun</c:v>
                  </c:pt>
                  <c:pt idx="4">
                    <c:v>Approval &amp; Notifikasi</c:v>
                  </c:pt>
                  <c:pt idx="5">
                    <c:v>RBAC Dinamis</c:v>
                  </c:pt>
                  <c:pt idx="6">
                    <c:v>Portal Siswa &amp; Landing</c:v>
                  </c:pt>
                  <c:pt idx="7">
                    <c:v>Pembayaran Daring</c:v>
                  </c:pt>
                </c:lvl>
              </c:multiLvlStrCache>
            </c:multiLvlStrRef>
          </c:cat>
          <c:val>
            <c:numRef>
              <c:f>Sheet1!$B$2:$B$9</c:f>
              <c:numCache>
                <c:formatCode>General</c:formatCode>
                <c:ptCount val="8"/>
                <c:pt idx="0">
                  <c:v>13</c:v>
                </c:pt>
                <c:pt idx="1">
                  <c:v>6</c:v>
                </c:pt>
                <c:pt idx="2">
                  <c:v>12</c:v>
                </c:pt>
                <c:pt idx="3">
                  <c:v>14</c:v>
                </c:pt>
                <c:pt idx="4">
                  <c:v>19</c:v>
                </c:pt>
                <c:pt idx="5">
                  <c:v>14</c:v>
                </c:pt>
                <c:pt idx="6">
                  <c:v>9</c:v>
                </c:pt>
                <c:pt idx="7">
                  <c:v>15</c:v>
                </c:pt>
              </c:numCache>
            </c:numRef>
          </c:val>
        </c:ser>
        <c:dLbls>
          <c:numFmt formatCode="#,##0" sourceLinked="0"/>
          <c:txPr>
            <a:bodyPr/>
            <a:lstStyle/>
            <a:p>
              <a:pPr>
                <a:defRPr b="0" i="0" strike="noStrike" sz="950" u="none">
                  <a:solidFill>
                    <a:srgbClr val="1B2138"/>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5A6484"/>
                </a:solidFill>
                <a:latin typeface="Calibri"/>
              </a:defRPr>
            </a:pPr>
            <a:endParaRPr lang="en-US"/>
          </a:p>
        </c:txPr>
        <c:crossAx val="2094734552"/>
        <c:crosses val="autoZero"/>
        <c:auto val="1"/>
        <c:lblAlgn val="ctr"/>
        <c:noMultiLvlLbl val="1"/>
      </c:catAx>
      <c:valAx>
        <c:axId val="2094734552"/>
        <c:scaling>
          <c:orientation val="minMax"/>
          <c:max val="25"/>
          <c:min val="0"/>
        </c:scaling>
        <c:delete val="0"/>
        <c:axPos val="b"/>
        <c:majorGridlines>
          <c:spPr>
            <a:ln w="12700" cap="flat">
              <a:solidFill>
                <a:srgbClr val="E1E6F2"/>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A6484"/>
                </a:solidFill>
                <a:latin typeface="Calibri"/>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Assalamualaikum. Perkenalkan saya Muhammad Fathurrahman Rizki Perdana, NIM 3202316079. Pada kesempatan ini saya akan memaparkan hasil Tugas Akhir berjudul Pengembangan Sistem Informasi Keuangan SPP Berbasis Web dengan RBAC dan Integrasi Payment Gateway pada LPA Handayani.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LPA Handayani sudah punya sistem keuangan SPP berbasis web, tetapi masih menyisakan empat kendala. Pertama, pembayaran manual sehingga pencatatan sering terlambat. Kedua, tidak ada pembatasan hak akses. Ketiga, pengeluaran dicatat tanpa persetujuan. Keempat, belum ada dashboard, notifikasi, dan import 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Dari latar belakang tersebut ditetapkan empat rumusan masalah, yang masing-masing menjadi dasar bagi tujuan tugas akhir pada slide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Kelima tujuan ini yang nanti saya evaluasi capaiannya pada bagian hasil. Setiap tujuan menjawab satu rumusan masalah.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Sembilan batasan ini menjaga penelitian tetap terarah. Poin enam sampai sembilan di kolom kanan merupakan cakupan yang berkembang selama implementasi di luar rencana proposal awal.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Manfaat dibagi tiga sasaran: lembaga sebagai pengguna, kampus sebagai rujukan akademik, dan peneliti.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Metode yang dipakai SDLC Waterfall dengan enam tahap. Perlu saya sampaikan jujur bahwa pelaksanaannya tidak murni satu arah, melainkan iteratif, karena kebutuhan baru muncul saat implementasi. Ini juga saya tuliskan terbuka di laporan pada sub-bab analisis hasil.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Sistem dibangun sebagai dua aplikasi Laravel yang terhubung REST API dengan satu basis data MySQL. Angka kunci: lima peran, 103 izin akses, 38 tabel aplikasi. Empat poin di bawah adalah wujud implementasi dari empat pilar tujuan tugas akhir.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halaman Manajemen RBAC. Lima peran dengan 103 izin akses. Yang perlu ditekankan: pemetaan izin terhadap halaman dan endpoint disimpan di basis data, jadi bisa diubah lewat antarmuka tanpa menyentuh kode. Pemeriksaan izin berlapis, di sisi server pada setiap permintaan.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Pengeluaran tidak langsung masuk laporan keuangan. Statusnya bertahap: diajukan, disetujui atau ditolak, lalu dicairkan. Hanya yang sudah disetujui yang dihitung. Untuk pengeluaran rutin bernilai kecil ada ambang persetujuan otomatis per cabang supaya operasional harian tidak terhambat.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Wali siswa membayar lewat Snap Midtrans dengan beberapa kanal, termasuk QRIS dan virtual account. Beberapa tagihan bisa dilunasi sekaligus dalam satu transaksi. Setelah pembayaran berhasil, Midtrans mengirim webhook yang tanda tangannya diverifikasi sistem, lalu status tagihan diperbarui otomatis dan kwitansi dikirim ke surel.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 menjawab kebutuhan pemantauan yang sebelumnya tidak ada. Kartu ringkasan di atas, grafik tren, dan daftar tunggakan. Pengelola bisa melihat kondisi keuangan sewaktu-waktu tanpa menyusun laporan manual.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Halaman informasi publik memuat profil, informasi, dan lokasi lembaga, sekaligus jadi pintu masuk menuju portal. Di portal, siswa atau wali melihat daftar tagihan, memilih tagihan yang akan dibayar, dan menelusuri riwayat pembayarannya.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Seluruh skenario pada BAB III dijabarkan menjadi 102 kasus uji, mencakup delapan kelompok fitur. Hasilnya seluruh kasus berstatus PASS, tingkat keberhasilan 100 persen, tanpa satu pun kasus gagal. Kelompok terbesar adalah approval dan notifikasi dengan 19 kasus uji.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Seluruh lima tujuan tugas akhir tercapai. Keterbatasan yang saya catat terbuka di laporan: notifikasi baru lewat surel, cakupan masih satu lembaga, ada satu tabel sisa yang belum dibersihkan, dan sistem belum ditempatkan di peladen produksi.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Demikian pemaparan saya. Terima kasih atas perhatiannya, saya persilakan untuk pertanyaan dan masukan.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7"/>
        </a:solidFill>
      </p:bgPr>
    </p:bg>
    <p:spTree>
      <p:nvGrpSpPr>
        <p:cNvPr id="1" name=""/>
        <p:cNvGrpSpPr/>
        <p:nvPr/>
      </p:nvGrpSpPr>
      <p:grpSpPr>
        <a:xfrm>
          <a:off x="0" y="0"/>
          <a:ext cx="0" cy="0"/>
          <a:chOff x="0" y="0"/>
          <a:chExt cx="0" cy="0"/>
        </a:xfrm>
      </p:grpSpPr>
      <p:sp>
        <p:nvSpPr>
          <p:cNvPr id="2" name="Shape 0"/>
          <p:cNvSpPr/>
          <p:nvPr/>
        </p:nvSpPr>
        <p:spPr>
          <a:xfrm>
            <a:off x="6583680" y="-1371600"/>
            <a:ext cx="4206240" cy="4206240"/>
          </a:xfrm>
          <a:prstGeom prst="ellipse">
            <a:avLst/>
          </a:prstGeom>
          <a:solidFill>
            <a:srgbClr val="1E2761">
              <a:alpha val="65000"/>
            </a:srgbClr>
          </a:solidFill>
          <a:ln/>
        </p:spPr>
      </p:sp>
      <p:sp>
        <p:nvSpPr>
          <p:cNvPr id="3" name="Shape 1"/>
          <p:cNvSpPr/>
          <p:nvPr/>
        </p:nvSpPr>
        <p:spPr>
          <a:xfrm>
            <a:off x="7680960" y="3108960"/>
            <a:ext cx="2377440" cy="2377440"/>
          </a:xfrm>
          <a:prstGeom prst="ellipse">
            <a:avLst/>
          </a:prstGeom>
          <a:solidFill>
            <a:srgbClr val="1E2761">
              <a:alpha val="45000"/>
            </a:srgbClr>
          </a:solidFill>
          <a:ln/>
        </p:spPr>
      </p:sp>
      <p:sp>
        <p:nvSpPr>
          <p:cNvPr id="4" name="Text 2"/>
          <p:cNvSpPr/>
          <p:nvPr/>
        </p:nvSpPr>
        <p:spPr>
          <a:xfrm>
            <a:off x="640080" y="566928"/>
            <a:ext cx="5852160" cy="274320"/>
          </a:xfrm>
          <a:prstGeom prst="rect">
            <a:avLst/>
          </a:prstGeom>
          <a:noFill/>
          <a:ln/>
        </p:spPr>
        <p:txBody>
          <a:bodyPr wrap="square" lIns="0" tIns="0" rIns="0" bIns="0" rtlCol="0" anchor="ctr"/>
          <a:lstStyle/>
          <a:p>
            <a:pPr indent="0" marL="0">
              <a:buNone/>
            </a:pPr>
            <a:r>
              <a:rPr lang="en-US" sz="1150" b="1" spc="260" kern="0" dirty="0">
                <a:solidFill>
                  <a:srgbClr val="C8A951"/>
                </a:solidFill>
                <a:latin typeface="Calibri" pitchFamily="34" charset="0"/>
                <a:ea typeface="Calibri" pitchFamily="34" charset="-122"/>
                <a:cs typeface="Calibri" pitchFamily="34" charset="-120"/>
              </a:rPr>
              <a:t>SIDANG TUGAS AKHIR</a:t>
            </a:r>
            <a:endParaRPr lang="en-US" sz="1150" dirty="0"/>
          </a:p>
        </p:txBody>
      </p:sp>
      <p:sp>
        <p:nvSpPr>
          <p:cNvPr id="5" name="Text 3"/>
          <p:cNvSpPr/>
          <p:nvPr/>
        </p:nvSpPr>
        <p:spPr>
          <a:xfrm>
            <a:off x="640080" y="1024128"/>
            <a:ext cx="5943600" cy="1691640"/>
          </a:xfrm>
          <a:prstGeom prst="rect">
            <a:avLst/>
          </a:prstGeom>
          <a:noFill/>
          <a:ln/>
        </p:spPr>
        <p:txBody>
          <a:bodyPr wrap="square" lIns="0" tIns="0" rIns="0" bIns="0" rtlCol="0" anchor="t"/>
          <a:lstStyle/>
          <a:p>
            <a:pPr indent="0" marL="0">
              <a:lnSpc>
                <a:spcPts val="3000"/>
              </a:lnSpc>
              <a:buNone/>
            </a:pPr>
            <a:r>
              <a:rPr lang="en-US" sz="2400" b="1" dirty="0">
                <a:solidFill>
                  <a:srgbClr val="FFFFFF"/>
                </a:solidFill>
                <a:latin typeface="Cambria" pitchFamily="34" charset="0"/>
                <a:ea typeface="Cambria" pitchFamily="34" charset="-122"/>
                <a:cs typeface="Cambria" pitchFamily="34" charset="-120"/>
              </a:rPr>
              <a:t>Pengembangan Sistem Informasi Keuangan SPP Berbasis Web dengan RBAC dan Integrasi Payment Gateway pada LPA Handayani</a:t>
            </a:r>
            <a:endParaRPr lang="en-US" sz="2400" dirty="0"/>
          </a:p>
        </p:txBody>
      </p:sp>
      <p:sp>
        <p:nvSpPr>
          <p:cNvPr id="6" name="Text 4"/>
          <p:cNvSpPr/>
          <p:nvPr/>
        </p:nvSpPr>
        <p:spPr>
          <a:xfrm>
            <a:off x="640080" y="2999232"/>
            <a:ext cx="5943600" cy="292608"/>
          </a:xfrm>
          <a:prstGeom prst="rect">
            <a:avLst/>
          </a:prstGeom>
          <a:noFill/>
          <a:ln/>
        </p:spPr>
        <p:txBody>
          <a:bodyPr wrap="square" lIns="0" tIns="0" rIns="0" bIns="0" rtlCol="0" anchor="ctr"/>
          <a:lstStyle/>
          <a:p>
            <a:pPr indent="0" marL="0">
              <a:buNone/>
            </a:pPr>
            <a:r>
              <a:rPr lang="en-US" sz="1500" b="1" dirty="0">
                <a:solidFill>
                  <a:srgbClr val="CADCFC"/>
                </a:solidFill>
                <a:latin typeface="Calibri" pitchFamily="34" charset="0"/>
                <a:ea typeface="Calibri" pitchFamily="34" charset="-122"/>
                <a:cs typeface="Calibri" pitchFamily="34" charset="-120"/>
              </a:rPr>
              <a:t>Muhammad Fathurrahman Rizki Perdana</a:t>
            </a:r>
            <a:endParaRPr lang="en-US" sz="1500" dirty="0"/>
          </a:p>
        </p:txBody>
      </p:sp>
      <p:sp>
        <p:nvSpPr>
          <p:cNvPr id="7" name="Text 5"/>
          <p:cNvSpPr/>
          <p:nvPr/>
        </p:nvSpPr>
        <p:spPr>
          <a:xfrm>
            <a:off x="640080" y="3310128"/>
            <a:ext cx="5943600" cy="256032"/>
          </a:xfrm>
          <a:prstGeom prst="rect">
            <a:avLst/>
          </a:prstGeom>
          <a:noFill/>
          <a:ln/>
        </p:spPr>
        <p:txBody>
          <a:bodyPr wrap="square" lIns="0" tIns="0" rIns="0" bIns="0" rtlCol="0" anchor="ctr"/>
          <a:lstStyle/>
          <a:p>
            <a:pPr indent="0" marL="0">
              <a:buNone/>
            </a:pPr>
            <a:r>
              <a:rPr lang="en-US" sz="1250" dirty="0">
                <a:solidFill>
                  <a:srgbClr val="9FB0D8"/>
                </a:solidFill>
                <a:latin typeface="Calibri" pitchFamily="34" charset="0"/>
                <a:ea typeface="Calibri" pitchFamily="34" charset="-122"/>
                <a:cs typeface="Calibri" pitchFamily="34" charset="-120"/>
              </a:rPr>
              <a:t>NIM 3202316079</a:t>
            </a:r>
            <a:endParaRPr lang="en-US" sz="1250" dirty="0"/>
          </a:p>
        </p:txBody>
      </p:sp>
      <p:sp>
        <p:nvSpPr>
          <p:cNvPr id="8" name="Text 6"/>
          <p:cNvSpPr/>
          <p:nvPr/>
        </p:nvSpPr>
        <p:spPr>
          <a:xfrm>
            <a:off x="640080" y="3822192"/>
            <a:ext cx="5943600" cy="256032"/>
          </a:xfrm>
          <a:prstGeom prst="rect">
            <a:avLst/>
          </a:prstGeom>
          <a:noFill/>
          <a:ln/>
        </p:spPr>
        <p:txBody>
          <a:bodyPr wrap="square" lIns="0" tIns="0" rIns="0" bIns="0" rtlCol="0" anchor="ctr"/>
          <a:lstStyle/>
          <a:p>
            <a:pPr indent="0" marL="0">
              <a:buNone/>
            </a:pPr>
            <a:r>
              <a:rPr lang="en-US" sz="1200" dirty="0">
                <a:solidFill>
                  <a:srgbClr val="9FB0D8"/>
                </a:solidFill>
                <a:latin typeface="Calibri" pitchFamily="34" charset="0"/>
                <a:ea typeface="Calibri" pitchFamily="34" charset="-122"/>
                <a:cs typeface="Calibri" pitchFamily="34" charset="-120"/>
              </a:rPr>
              <a:t>Pembimbing  :  Suheri, S.T., M.Cs.</a:t>
            </a:r>
            <a:endParaRPr lang="en-US" sz="1200" dirty="0"/>
          </a:p>
        </p:txBody>
      </p:sp>
      <p:sp>
        <p:nvSpPr>
          <p:cNvPr id="9" name="Text 7"/>
          <p:cNvSpPr/>
          <p:nvPr/>
        </p:nvSpPr>
        <p:spPr>
          <a:xfrm>
            <a:off x="640080" y="4224528"/>
            <a:ext cx="6583680" cy="237744"/>
          </a:xfrm>
          <a:prstGeom prst="rect">
            <a:avLst/>
          </a:prstGeom>
          <a:noFill/>
          <a:ln/>
        </p:spPr>
        <p:txBody>
          <a:bodyPr wrap="square" lIns="0" tIns="0" rIns="0" bIns="0" rtlCol="0" anchor="ctr"/>
          <a:lstStyle/>
          <a:p>
            <a:pPr indent="0" marL="0">
              <a:buNone/>
            </a:pPr>
            <a:r>
              <a:rPr lang="en-US" sz="1100" dirty="0">
                <a:solidFill>
                  <a:srgbClr val="7E8DB8"/>
                </a:solidFill>
                <a:latin typeface="Calibri" pitchFamily="34" charset="0"/>
                <a:ea typeface="Calibri" pitchFamily="34" charset="-122"/>
                <a:cs typeface="Calibri" pitchFamily="34" charset="-120"/>
              </a:rPr>
              <a:t>Program Studi D3 Teknik Informatika  ·  Jurusan Teknik Elektro</a:t>
            </a:r>
            <a:endParaRPr lang="en-US" sz="1100" dirty="0"/>
          </a:p>
        </p:txBody>
      </p:sp>
      <p:sp>
        <p:nvSpPr>
          <p:cNvPr id="10" name="Text 8"/>
          <p:cNvSpPr/>
          <p:nvPr/>
        </p:nvSpPr>
        <p:spPr>
          <a:xfrm>
            <a:off x="640080" y="4480560"/>
            <a:ext cx="6583680" cy="237744"/>
          </a:xfrm>
          <a:prstGeom prst="rect">
            <a:avLst/>
          </a:prstGeom>
          <a:noFill/>
          <a:ln/>
        </p:spPr>
        <p:txBody>
          <a:bodyPr wrap="square" lIns="0" tIns="0" rIns="0" bIns="0" rtlCol="0" anchor="ctr"/>
          <a:lstStyle/>
          <a:p>
            <a:pPr indent="0" marL="0">
              <a:buNone/>
            </a:pPr>
            <a:r>
              <a:rPr lang="en-US" sz="1100" dirty="0">
                <a:solidFill>
                  <a:srgbClr val="7E8DB8"/>
                </a:solidFill>
                <a:latin typeface="Calibri" pitchFamily="34" charset="0"/>
                <a:ea typeface="Calibri" pitchFamily="34" charset="-122"/>
                <a:cs typeface="Calibri" pitchFamily="34" charset="-120"/>
              </a:rPr>
              <a:t>Politeknik Negeri Pontianak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02920" y="329184"/>
            <a:ext cx="8138160" cy="566928"/>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Latar Belakang</a:t>
            </a:r>
            <a:endParaRPr lang="en-US" sz="3000" dirty="0"/>
          </a:p>
        </p:txBody>
      </p:sp>
      <p:sp>
        <p:nvSpPr>
          <p:cNvPr id="3" name="Text 1"/>
          <p:cNvSpPr/>
          <p:nvPr/>
        </p:nvSpPr>
        <p:spPr>
          <a:xfrm>
            <a:off x="521208" y="886968"/>
            <a:ext cx="8138160" cy="274320"/>
          </a:xfrm>
          <a:prstGeom prst="rect">
            <a:avLst/>
          </a:prstGeom>
          <a:noFill/>
          <a:ln/>
        </p:spPr>
        <p:txBody>
          <a:bodyPr wrap="square" lIns="0" tIns="0" rIns="0" bIns="0" rtlCol="0" anchor="ctr"/>
          <a:lstStyle/>
          <a:p>
            <a:pPr algn="l" indent="0" marL="0">
              <a:buNone/>
            </a:pPr>
            <a:r>
              <a:rPr lang="en-US" sz="1250" dirty="0">
                <a:solidFill>
                  <a:srgbClr val="5A6484"/>
                </a:solidFill>
                <a:latin typeface="Calibri" pitchFamily="34" charset="0"/>
                <a:ea typeface="Calibri" pitchFamily="34" charset="-122"/>
                <a:cs typeface="Calibri" pitchFamily="34" charset="-120"/>
              </a:rPr>
              <a:t>Kendala pada sistem keuangan SPP yang berjalan di LPA Handayani</a:t>
            </a:r>
            <a:endParaRPr lang="en-US" sz="1250" dirty="0"/>
          </a:p>
        </p:txBody>
      </p:sp>
      <p:sp>
        <p:nvSpPr>
          <p:cNvPr id="4" name="Shape 2"/>
          <p:cNvSpPr/>
          <p:nvPr/>
        </p:nvSpPr>
        <p:spPr>
          <a:xfrm>
            <a:off x="502920" y="1325880"/>
            <a:ext cx="4023360" cy="1481328"/>
          </a:xfrm>
          <a:prstGeom prst="roundRect">
            <a:avLst>
              <a:gd name="adj" fmla="val 6173"/>
            </a:avLst>
          </a:prstGeom>
          <a:solidFill>
            <a:srgbClr val="FFFFFF"/>
          </a:solidFill>
          <a:ln/>
          <a:effectLst>
            <a:outerShdw sx="100000" sy="100000" kx="0" ky="0" algn="bl" rotWithShape="0" blurRad="127000" dist="25400" dir="5400000">
              <a:srgbClr val="8894B0">
                <a:alpha val="28000"/>
              </a:srgbClr>
            </a:outerShdw>
          </a:effectLst>
        </p:spPr>
      </p:sp>
      <p:sp>
        <p:nvSpPr>
          <p:cNvPr id="5" name="Shape 3"/>
          <p:cNvSpPr/>
          <p:nvPr/>
        </p:nvSpPr>
        <p:spPr>
          <a:xfrm>
            <a:off x="740664" y="1563624"/>
            <a:ext cx="347472" cy="347472"/>
          </a:xfrm>
          <a:prstGeom prst="ellipse">
            <a:avLst/>
          </a:prstGeom>
          <a:solidFill>
            <a:srgbClr val="1E2761"/>
          </a:solidFill>
          <a:ln/>
        </p:spPr>
      </p:sp>
      <p:sp>
        <p:nvSpPr>
          <p:cNvPr id="6" name="Text 4"/>
          <p:cNvSpPr/>
          <p:nvPr/>
        </p:nvSpPr>
        <p:spPr>
          <a:xfrm>
            <a:off x="740664" y="1563624"/>
            <a:ext cx="347472" cy="347472"/>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1</a:t>
            </a:r>
            <a:endParaRPr lang="en-US" sz="1450" dirty="0"/>
          </a:p>
        </p:txBody>
      </p:sp>
      <p:sp>
        <p:nvSpPr>
          <p:cNvPr id="7" name="Text 5"/>
          <p:cNvSpPr/>
          <p:nvPr/>
        </p:nvSpPr>
        <p:spPr>
          <a:xfrm>
            <a:off x="1179576" y="1545336"/>
            <a:ext cx="3108960" cy="310896"/>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Pembayaran masih manual</a:t>
            </a:r>
            <a:endParaRPr lang="en-US" sz="1450" dirty="0"/>
          </a:p>
        </p:txBody>
      </p:sp>
      <p:sp>
        <p:nvSpPr>
          <p:cNvPr id="8" name="Text 6"/>
          <p:cNvSpPr/>
          <p:nvPr/>
        </p:nvSpPr>
        <p:spPr>
          <a:xfrm>
            <a:off x="740664" y="1947672"/>
            <a:ext cx="3547872" cy="713232"/>
          </a:xfrm>
          <a:prstGeom prst="rect">
            <a:avLst/>
          </a:prstGeom>
          <a:noFill/>
          <a:ln/>
        </p:spPr>
        <p:txBody>
          <a:bodyPr wrap="square" lIns="0" tIns="0" rIns="0" bIns="0" rtlCol="0" anchor="t"/>
          <a:lstStyle/>
          <a:p>
            <a:pPr indent="0" marL="0">
              <a:lnSpc>
                <a:spcPts val="1500"/>
              </a:lnSpc>
              <a:buNone/>
            </a:pPr>
            <a:r>
              <a:rPr lang="en-US" sz="1150" dirty="0">
                <a:solidFill>
                  <a:srgbClr val="5A6484"/>
                </a:solidFill>
                <a:latin typeface="Calibri" pitchFamily="34" charset="0"/>
                <a:ea typeface="Calibri" pitchFamily="34" charset="-122"/>
                <a:cs typeface="Calibri" pitchFamily="34" charset="-120"/>
              </a:rPr>
              <a:t>Wali siswa transfer atau bayar langsung, lalu dicatat ulang oleh pengelola. Rawan telat catat dan salah administrasi.</a:t>
            </a:r>
            <a:endParaRPr lang="en-US" sz="1150" dirty="0"/>
          </a:p>
        </p:txBody>
      </p:sp>
      <p:sp>
        <p:nvSpPr>
          <p:cNvPr id="9" name="Shape 7"/>
          <p:cNvSpPr/>
          <p:nvPr/>
        </p:nvSpPr>
        <p:spPr>
          <a:xfrm>
            <a:off x="4617720" y="1325880"/>
            <a:ext cx="4023360" cy="1481328"/>
          </a:xfrm>
          <a:prstGeom prst="roundRect">
            <a:avLst>
              <a:gd name="adj" fmla="val 6173"/>
            </a:avLst>
          </a:prstGeom>
          <a:solidFill>
            <a:srgbClr val="FFFFFF"/>
          </a:solidFill>
          <a:ln/>
          <a:effectLst>
            <a:outerShdw sx="100000" sy="100000" kx="0" ky="0" algn="bl" rotWithShape="0" blurRad="127000" dist="25400" dir="5400000">
              <a:srgbClr val="8894B0">
                <a:alpha val="28000"/>
              </a:srgbClr>
            </a:outerShdw>
          </a:effectLst>
        </p:spPr>
      </p:sp>
      <p:sp>
        <p:nvSpPr>
          <p:cNvPr id="10" name="Shape 8"/>
          <p:cNvSpPr/>
          <p:nvPr/>
        </p:nvSpPr>
        <p:spPr>
          <a:xfrm>
            <a:off x="4855464" y="1563624"/>
            <a:ext cx="347472" cy="347472"/>
          </a:xfrm>
          <a:prstGeom prst="ellipse">
            <a:avLst/>
          </a:prstGeom>
          <a:solidFill>
            <a:srgbClr val="1E2761"/>
          </a:solidFill>
          <a:ln/>
        </p:spPr>
      </p:sp>
      <p:sp>
        <p:nvSpPr>
          <p:cNvPr id="11" name="Text 9"/>
          <p:cNvSpPr/>
          <p:nvPr/>
        </p:nvSpPr>
        <p:spPr>
          <a:xfrm>
            <a:off x="4855464" y="1563624"/>
            <a:ext cx="347472" cy="347472"/>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2</a:t>
            </a:r>
            <a:endParaRPr lang="en-US" sz="1450" dirty="0"/>
          </a:p>
        </p:txBody>
      </p:sp>
      <p:sp>
        <p:nvSpPr>
          <p:cNvPr id="12" name="Text 10"/>
          <p:cNvSpPr/>
          <p:nvPr/>
        </p:nvSpPr>
        <p:spPr>
          <a:xfrm>
            <a:off x="5294376" y="1545336"/>
            <a:ext cx="3108960" cy="310896"/>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Hak akses tanpa kontrol</a:t>
            </a:r>
            <a:endParaRPr lang="en-US" sz="1450" dirty="0"/>
          </a:p>
        </p:txBody>
      </p:sp>
      <p:sp>
        <p:nvSpPr>
          <p:cNvPr id="13" name="Text 11"/>
          <p:cNvSpPr/>
          <p:nvPr/>
        </p:nvSpPr>
        <p:spPr>
          <a:xfrm>
            <a:off x="4855464" y="1947672"/>
            <a:ext cx="3547872" cy="713232"/>
          </a:xfrm>
          <a:prstGeom prst="rect">
            <a:avLst/>
          </a:prstGeom>
          <a:noFill/>
          <a:ln/>
        </p:spPr>
        <p:txBody>
          <a:bodyPr wrap="square" lIns="0" tIns="0" rIns="0" bIns="0" rtlCol="0" anchor="t"/>
          <a:lstStyle/>
          <a:p>
            <a:pPr indent="0" marL="0">
              <a:lnSpc>
                <a:spcPts val="1500"/>
              </a:lnSpc>
              <a:buNone/>
            </a:pPr>
            <a:r>
              <a:rPr lang="en-US" sz="1150" dirty="0">
                <a:solidFill>
                  <a:srgbClr val="5A6484"/>
                </a:solidFill>
                <a:latin typeface="Calibri" pitchFamily="34" charset="0"/>
                <a:ea typeface="Calibri" pitchFamily="34" charset="-122"/>
                <a:cs typeface="Calibri" pitchFamily="34" charset="-120"/>
              </a:rPr>
              <a:t>Admin dan bendahara dapat mencatat transaksi keuangan tanpa pembatasan peran yang jelas.</a:t>
            </a:r>
            <a:endParaRPr lang="en-US" sz="1150" dirty="0"/>
          </a:p>
        </p:txBody>
      </p:sp>
      <p:sp>
        <p:nvSpPr>
          <p:cNvPr id="14" name="Shape 12"/>
          <p:cNvSpPr/>
          <p:nvPr/>
        </p:nvSpPr>
        <p:spPr>
          <a:xfrm>
            <a:off x="502920" y="2999232"/>
            <a:ext cx="4023360" cy="1481328"/>
          </a:xfrm>
          <a:prstGeom prst="roundRect">
            <a:avLst>
              <a:gd name="adj" fmla="val 6173"/>
            </a:avLst>
          </a:prstGeom>
          <a:solidFill>
            <a:srgbClr val="FFFFFF"/>
          </a:solidFill>
          <a:ln/>
          <a:effectLst>
            <a:outerShdw sx="100000" sy="100000" kx="0" ky="0" algn="bl" rotWithShape="0" blurRad="127000" dist="25400" dir="5400000">
              <a:srgbClr val="8894B0">
                <a:alpha val="28000"/>
              </a:srgbClr>
            </a:outerShdw>
          </a:effectLst>
        </p:spPr>
      </p:sp>
      <p:sp>
        <p:nvSpPr>
          <p:cNvPr id="15" name="Shape 13"/>
          <p:cNvSpPr/>
          <p:nvPr/>
        </p:nvSpPr>
        <p:spPr>
          <a:xfrm>
            <a:off x="740664" y="3236976"/>
            <a:ext cx="347472" cy="347472"/>
          </a:xfrm>
          <a:prstGeom prst="ellipse">
            <a:avLst/>
          </a:prstGeom>
          <a:solidFill>
            <a:srgbClr val="1E2761"/>
          </a:solidFill>
          <a:ln/>
        </p:spPr>
      </p:sp>
      <p:sp>
        <p:nvSpPr>
          <p:cNvPr id="16" name="Text 14"/>
          <p:cNvSpPr/>
          <p:nvPr/>
        </p:nvSpPr>
        <p:spPr>
          <a:xfrm>
            <a:off x="740664" y="3236976"/>
            <a:ext cx="347472" cy="347472"/>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3</a:t>
            </a:r>
            <a:endParaRPr lang="en-US" sz="1450" dirty="0"/>
          </a:p>
        </p:txBody>
      </p:sp>
      <p:sp>
        <p:nvSpPr>
          <p:cNvPr id="17" name="Text 15"/>
          <p:cNvSpPr/>
          <p:nvPr/>
        </p:nvSpPr>
        <p:spPr>
          <a:xfrm>
            <a:off x="1179576" y="3218688"/>
            <a:ext cx="3108960" cy="310896"/>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Pengeluaran tanpa persetujuan</a:t>
            </a:r>
            <a:endParaRPr lang="en-US" sz="1450" dirty="0"/>
          </a:p>
        </p:txBody>
      </p:sp>
      <p:sp>
        <p:nvSpPr>
          <p:cNvPr id="18" name="Text 16"/>
          <p:cNvSpPr/>
          <p:nvPr/>
        </p:nvSpPr>
        <p:spPr>
          <a:xfrm>
            <a:off x="740664" y="3621024"/>
            <a:ext cx="3547872" cy="713232"/>
          </a:xfrm>
          <a:prstGeom prst="rect">
            <a:avLst/>
          </a:prstGeom>
          <a:noFill/>
          <a:ln/>
        </p:spPr>
        <p:txBody>
          <a:bodyPr wrap="square" lIns="0" tIns="0" rIns="0" bIns="0" rtlCol="0" anchor="t"/>
          <a:lstStyle/>
          <a:p>
            <a:pPr indent="0" marL="0">
              <a:lnSpc>
                <a:spcPts val="1500"/>
              </a:lnSpc>
              <a:buNone/>
            </a:pPr>
            <a:r>
              <a:rPr lang="en-US" sz="1150" dirty="0">
                <a:solidFill>
                  <a:srgbClr val="5A6484"/>
                </a:solidFill>
                <a:latin typeface="Calibri" pitchFamily="34" charset="0"/>
                <a:ea typeface="Calibri" pitchFamily="34" charset="-122"/>
                <a:cs typeface="Calibri" pitchFamily="34" charset="-120"/>
              </a:rPr>
              <a:t>Transaksi pengeluaran langsung tercatat tanpa verifikasi dari pihak berwenang.</a:t>
            </a:r>
            <a:endParaRPr lang="en-US" sz="1150" dirty="0"/>
          </a:p>
        </p:txBody>
      </p:sp>
      <p:sp>
        <p:nvSpPr>
          <p:cNvPr id="19" name="Shape 17"/>
          <p:cNvSpPr/>
          <p:nvPr/>
        </p:nvSpPr>
        <p:spPr>
          <a:xfrm>
            <a:off x="4617720" y="2999232"/>
            <a:ext cx="4023360" cy="1481328"/>
          </a:xfrm>
          <a:prstGeom prst="roundRect">
            <a:avLst>
              <a:gd name="adj" fmla="val 6173"/>
            </a:avLst>
          </a:prstGeom>
          <a:solidFill>
            <a:srgbClr val="FFFFFF"/>
          </a:solidFill>
          <a:ln/>
          <a:effectLst>
            <a:outerShdw sx="100000" sy="100000" kx="0" ky="0" algn="bl" rotWithShape="0" blurRad="127000" dist="25400" dir="5400000">
              <a:srgbClr val="8894B0">
                <a:alpha val="28000"/>
              </a:srgbClr>
            </a:outerShdw>
          </a:effectLst>
        </p:spPr>
      </p:sp>
      <p:sp>
        <p:nvSpPr>
          <p:cNvPr id="20" name="Shape 18"/>
          <p:cNvSpPr/>
          <p:nvPr/>
        </p:nvSpPr>
        <p:spPr>
          <a:xfrm>
            <a:off x="4855464" y="3236976"/>
            <a:ext cx="347472" cy="347472"/>
          </a:xfrm>
          <a:prstGeom prst="ellipse">
            <a:avLst/>
          </a:prstGeom>
          <a:solidFill>
            <a:srgbClr val="1E2761"/>
          </a:solidFill>
          <a:ln/>
        </p:spPr>
      </p:sp>
      <p:sp>
        <p:nvSpPr>
          <p:cNvPr id="21" name="Text 19"/>
          <p:cNvSpPr/>
          <p:nvPr/>
        </p:nvSpPr>
        <p:spPr>
          <a:xfrm>
            <a:off x="4855464" y="3236976"/>
            <a:ext cx="347472" cy="347472"/>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4</a:t>
            </a:r>
            <a:endParaRPr lang="en-US" sz="1450" dirty="0"/>
          </a:p>
        </p:txBody>
      </p:sp>
      <p:sp>
        <p:nvSpPr>
          <p:cNvPr id="22" name="Text 20"/>
          <p:cNvSpPr/>
          <p:nvPr/>
        </p:nvSpPr>
        <p:spPr>
          <a:xfrm>
            <a:off x="5294376" y="3218688"/>
            <a:ext cx="3108960" cy="310896"/>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Pemantauan belum terpadu</a:t>
            </a:r>
            <a:endParaRPr lang="en-US" sz="1450" dirty="0"/>
          </a:p>
        </p:txBody>
      </p:sp>
      <p:sp>
        <p:nvSpPr>
          <p:cNvPr id="23" name="Text 21"/>
          <p:cNvSpPr/>
          <p:nvPr/>
        </p:nvSpPr>
        <p:spPr>
          <a:xfrm>
            <a:off x="4855464" y="3621024"/>
            <a:ext cx="3547872" cy="713232"/>
          </a:xfrm>
          <a:prstGeom prst="rect">
            <a:avLst/>
          </a:prstGeom>
          <a:noFill/>
          <a:ln/>
        </p:spPr>
        <p:txBody>
          <a:bodyPr wrap="square" lIns="0" tIns="0" rIns="0" bIns="0" rtlCol="0" anchor="t"/>
          <a:lstStyle/>
          <a:p>
            <a:pPr indent="0" marL="0">
              <a:lnSpc>
                <a:spcPts val="1500"/>
              </a:lnSpc>
              <a:buNone/>
            </a:pPr>
            <a:r>
              <a:rPr lang="en-US" sz="1150" dirty="0">
                <a:solidFill>
                  <a:srgbClr val="5A6484"/>
                </a:solidFill>
                <a:latin typeface="Calibri" pitchFamily="34" charset="0"/>
                <a:ea typeface="Calibri" pitchFamily="34" charset="-122"/>
                <a:cs typeface="Calibri" pitchFamily="34" charset="-120"/>
              </a:rPr>
              <a:t>Belum ada dashboard keuangan, notifikasi otomatis, serta fitur import dan export data.</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02920" y="329184"/>
            <a:ext cx="8138160" cy="566928"/>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Rumusan Masalah</a:t>
            </a:r>
            <a:endParaRPr lang="en-US" sz="3000" dirty="0"/>
          </a:p>
        </p:txBody>
      </p:sp>
      <p:sp>
        <p:nvSpPr>
          <p:cNvPr id="3" name="Shape 1"/>
          <p:cNvSpPr/>
          <p:nvPr/>
        </p:nvSpPr>
        <p:spPr>
          <a:xfrm>
            <a:off x="502920" y="1207008"/>
            <a:ext cx="8138160" cy="3310128"/>
          </a:xfrm>
          <a:prstGeom prst="roundRect">
            <a:avLst>
              <a:gd name="adj" fmla="val 2762"/>
            </a:avLst>
          </a:prstGeom>
          <a:solidFill>
            <a:srgbClr val="FFFFFF"/>
          </a:solidFill>
          <a:ln/>
          <a:effectLst>
            <a:outerShdw sx="100000" sy="100000" kx="0" ky="0" algn="bl" rotWithShape="0" blurRad="127000" dist="25400" dir="5400000">
              <a:srgbClr val="8894B0">
                <a:alpha val="28000"/>
              </a:srgbClr>
            </a:outerShdw>
          </a:effectLst>
        </p:spPr>
      </p:sp>
      <p:sp>
        <p:nvSpPr>
          <p:cNvPr id="4" name="Shape 2"/>
          <p:cNvSpPr/>
          <p:nvPr/>
        </p:nvSpPr>
        <p:spPr>
          <a:xfrm>
            <a:off x="868680" y="1536192"/>
            <a:ext cx="310896" cy="310896"/>
          </a:xfrm>
          <a:prstGeom prst="ellipse">
            <a:avLst/>
          </a:prstGeom>
          <a:solidFill>
            <a:srgbClr val="1E2761"/>
          </a:solidFill>
          <a:ln/>
        </p:spPr>
      </p:sp>
      <p:sp>
        <p:nvSpPr>
          <p:cNvPr id="5" name="Text 3"/>
          <p:cNvSpPr/>
          <p:nvPr/>
        </p:nvSpPr>
        <p:spPr>
          <a:xfrm>
            <a:off x="868680" y="1536192"/>
            <a:ext cx="310896" cy="310896"/>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1</a:t>
            </a:r>
            <a:endParaRPr lang="en-US" sz="1450" dirty="0"/>
          </a:p>
        </p:txBody>
      </p:sp>
      <p:sp>
        <p:nvSpPr>
          <p:cNvPr id="6" name="Text 4"/>
          <p:cNvSpPr/>
          <p:nvPr/>
        </p:nvSpPr>
        <p:spPr>
          <a:xfrm>
            <a:off x="1325880" y="1508760"/>
            <a:ext cx="6949440" cy="365760"/>
          </a:xfrm>
          <a:prstGeom prst="rect">
            <a:avLst/>
          </a:prstGeom>
          <a:noFill/>
          <a:ln/>
        </p:spPr>
        <p:txBody>
          <a:bodyPr wrap="square" lIns="0" tIns="0" rIns="0" bIns="0" rtlCol="0" anchor="ctr"/>
          <a:lstStyle/>
          <a:p>
            <a:pPr indent="0" marL="0">
              <a:buNone/>
            </a:pPr>
            <a:r>
              <a:rPr lang="en-US" sz="1300" dirty="0">
                <a:solidFill>
                  <a:srgbClr val="1B2138"/>
                </a:solidFill>
                <a:latin typeface="Calibri" pitchFamily="34" charset="0"/>
                <a:ea typeface="Calibri" pitchFamily="34" charset="-122"/>
                <a:cs typeface="Calibri" pitchFamily="34" charset="-120"/>
              </a:rPr>
              <a:t>Bagaimana mengembangkan sistem informasi keuangan SPP berbasis web pada LPA Handayani agar pengelolaan keuangan menjadi lebih efektif dan terstruktur?</a:t>
            </a:r>
            <a:endParaRPr lang="en-US" sz="1300" dirty="0"/>
          </a:p>
        </p:txBody>
      </p:sp>
      <p:sp>
        <p:nvSpPr>
          <p:cNvPr id="7" name="Shape 5"/>
          <p:cNvSpPr/>
          <p:nvPr/>
        </p:nvSpPr>
        <p:spPr>
          <a:xfrm>
            <a:off x="868680" y="2286000"/>
            <a:ext cx="310896" cy="310896"/>
          </a:xfrm>
          <a:prstGeom prst="ellipse">
            <a:avLst/>
          </a:prstGeom>
          <a:solidFill>
            <a:srgbClr val="1E2761"/>
          </a:solidFill>
          <a:ln/>
        </p:spPr>
      </p:sp>
      <p:sp>
        <p:nvSpPr>
          <p:cNvPr id="8" name="Text 6"/>
          <p:cNvSpPr/>
          <p:nvPr/>
        </p:nvSpPr>
        <p:spPr>
          <a:xfrm>
            <a:off x="868680" y="2286000"/>
            <a:ext cx="310896" cy="310896"/>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2</a:t>
            </a:r>
            <a:endParaRPr lang="en-US" sz="1450" dirty="0"/>
          </a:p>
        </p:txBody>
      </p:sp>
      <p:sp>
        <p:nvSpPr>
          <p:cNvPr id="9" name="Text 7"/>
          <p:cNvSpPr/>
          <p:nvPr/>
        </p:nvSpPr>
        <p:spPr>
          <a:xfrm>
            <a:off x="1325880" y="2258568"/>
            <a:ext cx="6949440" cy="365760"/>
          </a:xfrm>
          <a:prstGeom prst="rect">
            <a:avLst/>
          </a:prstGeom>
          <a:noFill/>
          <a:ln/>
        </p:spPr>
        <p:txBody>
          <a:bodyPr wrap="square" lIns="0" tIns="0" rIns="0" bIns="0" rtlCol="0" anchor="ctr"/>
          <a:lstStyle/>
          <a:p>
            <a:pPr indent="0" marL="0">
              <a:buNone/>
            </a:pPr>
            <a:r>
              <a:rPr lang="en-US" sz="1300" dirty="0">
                <a:solidFill>
                  <a:srgbClr val="1B2138"/>
                </a:solidFill>
                <a:latin typeface="Calibri" pitchFamily="34" charset="0"/>
                <a:ea typeface="Calibri" pitchFamily="34" charset="-122"/>
                <a:cs typeface="Calibri" pitchFamily="34" charset="-120"/>
              </a:rPr>
              <a:t>Bagaimana menerapkan Role Based Access Control (RBAC) untuk mengatur hak akses pengguna dalam sistem?</a:t>
            </a:r>
            <a:endParaRPr lang="en-US" sz="1300" dirty="0"/>
          </a:p>
        </p:txBody>
      </p:sp>
      <p:sp>
        <p:nvSpPr>
          <p:cNvPr id="10" name="Shape 8"/>
          <p:cNvSpPr/>
          <p:nvPr/>
        </p:nvSpPr>
        <p:spPr>
          <a:xfrm>
            <a:off x="868680" y="3035808"/>
            <a:ext cx="310896" cy="310896"/>
          </a:xfrm>
          <a:prstGeom prst="ellipse">
            <a:avLst/>
          </a:prstGeom>
          <a:solidFill>
            <a:srgbClr val="1E2761"/>
          </a:solidFill>
          <a:ln/>
        </p:spPr>
      </p:sp>
      <p:sp>
        <p:nvSpPr>
          <p:cNvPr id="11" name="Text 9"/>
          <p:cNvSpPr/>
          <p:nvPr/>
        </p:nvSpPr>
        <p:spPr>
          <a:xfrm>
            <a:off x="868680" y="3035808"/>
            <a:ext cx="310896" cy="310896"/>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3</a:t>
            </a:r>
            <a:endParaRPr lang="en-US" sz="1450" dirty="0"/>
          </a:p>
        </p:txBody>
      </p:sp>
      <p:sp>
        <p:nvSpPr>
          <p:cNvPr id="12" name="Text 10"/>
          <p:cNvSpPr/>
          <p:nvPr/>
        </p:nvSpPr>
        <p:spPr>
          <a:xfrm>
            <a:off x="1325880" y="3008376"/>
            <a:ext cx="6949440" cy="365760"/>
          </a:xfrm>
          <a:prstGeom prst="rect">
            <a:avLst/>
          </a:prstGeom>
          <a:noFill/>
          <a:ln/>
        </p:spPr>
        <p:txBody>
          <a:bodyPr wrap="square" lIns="0" tIns="0" rIns="0" bIns="0" rtlCol="0" anchor="ctr"/>
          <a:lstStyle/>
          <a:p>
            <a:pPr indent="0" marL="0">
              <a:buNone/>
            </a:pPr>
            <a:r>
              <a:rPr lang="en-US" sz="1300" dirty="0">
                <a:solidFill>
                  <a:srgbClr val="1B2138"/>
                </a:solidFill>
                <a:latin typeface="Calibri" pitchFamily="34" charset="0"/>
                <a:ea typeface="Calibri" pitchFamily="34" charset="-122"/>
                <a:cs typeface="Calibri" pitchFamily="34" charset="-120"/>
              </a:rPr>
              <a:t>Bagaimana mengintegrasikan payment gateway untuk mendukung proses pembayaran SPP secara daring?</a:t>
            </a:r>
            <a:endParaRPr lang="en-US" sz="1300" dirty="0"/>
          </a:p>
        </p:txBody>
      </p:sp>
      <p:sp>
        <p:nvSpPr>
          <p:cNvPr id="13" name="Shape 11"/>
          <p:cNvSpPr/>
          <p:nvPr/>
        </p:nvSpPr>
        <p:spPr>
          <a:xfrm>
            <a:off x="868680" y="3785616"/>
            <a:ext cx="310896" cy="310896"/>
          </a:xfrm>
          <a:prstGeom prst="ellipse">
            <a:avLst/>
          </a:prstGeom>
          <a:solidFill>
            <a:srgbClr val="1E2761"/>
          </a:solidFill>
          <a:ln/>
        </p:spPr>
      </p:sp>
      <p:sp>
        <p:nvSpPr>
          <p:cNvPr id="14" name="Text 12"/>
          <p:cNvSpPr/>
          <p:nvPr/>
        </p:nvSpPr>
        <p:spPr>
          <a:xfrm>
            <a:off x="868680" y="3785616"/>
            <a:ext cx="310896" cy="310896"/>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4</a:t>
            </a:r>
            <a:endParaRPr lang="en-US" sz="1450" dirty="0"/>
          </a:p>
        </p:txBody>
      </p:sp>
      <p:sp>
        <p:nvSpPr>
          <p:cNvPr id="15" name="Text 13"/>
          <p:cNvSpPr/>
          <p:nvPr/>
        </p:nvSpPr>
        <p:spPr>
          <a:xfrm>
            <a:off x="1325880" y="3758184"/>
            <a:ext cx="6949440" cy="365760"/>
          </a:xfrm>
          <a:prstGeom prst="rect">
            <a:avLst/>
          </a:prstGeom>
          <a:noFill/>
          <a:ln/>
        </p:spPr>
        <p:txBody>
          <a:bodyPr wrap="square" lIns="0" tIns="0" rIns="0" bIns="0" rtlCol="0" anchor="ctr"/>
          <a:lstStyle/>
          <a:p>
            <a:pPr indent="0" marL="0">
              <a:buNone/>
            </a:pPr>
            <a:r>
              <a:rPr lang="en-US" sz="1300" dirty="0">
                <a:solidFill>
                  <a:srgbClr val="1B2138"/>
                </a:solidFill>
                <a:latin typeface="Calibri" pitchFamily="34" charset="0"/>
                <a:ea typeface="Calibri" pitchFamily="34" charset="-122"/>
                <a:cs typeface="Calibri" pitchFamily="34" charset="-120"/>
              </a:rPr>
              <a:t>Bagaimana menyediakan fitur pendukung seperti approval workflow, dashboard monitoring, notifikasi otomatis, serta import dan export data?</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02920" y="329184"/>
            <a:ext cx="8138160" cy="566928"/>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Tujuan Tugas Akhir</a:t>
            </a:r>
            <a:endParaRPr lang="en-US" sz="3000" dirty="0"/>
          </a:p>
        </p:txBody>
      </p:sp>
      <p:sp>
        <p:nvSpPr>
          <p:cNvPr id="3" name="Shape 1"/>
          <p:cNvSpPr/>
          <p:nvPr/>
        </p:nvSpPr>
        <p:spPr>
          <a:xfrm>
            <a:off x="502920" y="1207008"/>
            <a:ext cx="8138160" cy="3310128"/>
          </a:xfrm>
          <a:prstGeom prst="roundRect">
            <a:avLst>
              <a:gd name="adj" fmla="val 2762"/>
            </a:avLst>
          </a:prstGeom>
          <a:solidFill>
            <a:srgbClr val="FFFFFF"/>
          </a:solidFill>
          <a:ln/>
          <a:effectLst>
            <a:outerShdw sx="100000" sy="100000" kx="0" ky="0" algn="bl" rotWithShape="0" blurRad="127000" dist="25400" dir="5400000">
              <a:srgbClr val="8894B0">
                <a:alpha val="28000"/>
              </a:srgbClr>
            </a:outerShdw>
          </a:effectLst>
        </p:spPr>
      </p:sp>
      <p:sp>
        <p:nvSpPr>
          <p:cNvPr id="4" name="Shape 2"/>
          <p:cNvSpPr/>
          <p:nvPr/>
        </p:nvSpPr>
        <p:spPr>
          <a:xfrm>
            <a:off x="868680" y="1554480"/>
            <a:ext cx="310896" cy="310896"/>
          </a:xfrm>
          <a:prstGeom prst="ellipse">
            <a:avLst/>
          </a:prstGeom>
          <a:solidFill>
            <a:srgbClr val="1E2761"/>
          </a:solidFill>
          <a:ln/>
        </p:spPr>
      </p:sp>
      <p:sp>
        <p:nvSpPr>
          <p:cNvPr id="5" name="Text 3"/>
          <p:cNvSpPr/>
          <p:nvPr/>
        </p:nvSpPr>
        <p:spPr>
          <a:xfrm>
            <a:off x="868680" y="1554480"/>
            <a:ext cx="310896" cy="310896"/>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1</a:t>
            </a:r>
            <a:endParaRPr lang="en-US" sz="1450" dirty="0"/>
          </a:p>
        </p:txBody>
      </p:sp>
      <p:sp>
        <p:nvSpPr>
          <p:cNvPr id="6" name="Text 4"/>
          <p:cNvSpPr/>
          <p:nvPr/>
        </p:nvSpPr>
        <p:spPr>
          <a:xfrm>
            <a:off x="1325880" y="1527048"/>
            <a:ext cx="6949440" cy="365760"/>
          </a:xfrm>
          <a:prstGeom prst="rect">
            <a:avLst/>
          </a:prstGeom>
          <a:noFill/>
          <a:ln/>
        </p:spPr>
        <p:txBody>
          <a:bodyPr wrap="square" lIns="0" tIns="0" rIns="0" bIns="0" rtlCol="0" anchor="ctr"/>
          <a:lstStyle/>
          <a:p>
            <a:pPr indent="0" marL="0">
              <a:buNone/>
            </a:pPr>
            <a:r>
              <a:rPr lang="en-US" sz="1300" dirty="0">
                <a:solidFill>
                  <a:srgbClr val="1B2138"/>
                </a:solidFill>
                <a:latin typeface="Calibri" pitchFamily="34" charset="0"/>
                <a:ea typeface="Calibri" pitchFamily="34" charset="-122"/>
                <a:cs typeface="Calibri" pitchFamily="34" charset="-120"/>
              </a:rPr>
              <a:t>Mengembangkan sistem informasi keuangan SPP berbasis web untuk meningkatkan efektivitas pengelolaan data keuangan.</a:t>
            </a:r>
            <a:endParaRPr lang="en-US" sz="1300" dirty="0"/>
          </a:p>
        </p:txBody>
      </p:sp>
      <p:sp>
        <p:nvSpPr>
          <p:cNvPr id="7" name="Shape 5"/>
          <p:cNvSpPr/>
          <p:nvPr/>
        </p:nvSpPr>
        <p:spPr>
          <a:xfrm>
            <a:off x="868680" y="2157984"/>
            <a:ext cx="310896" cy="310896"/>
          </a:xfrm>
          <a:prstGeom prst="ellipse">
            <a:avLst/>
          </a:prstGeom>
          <a:solidFill>
            <a:srgbClr val="1E2761"/>
          </a:solidFill>
          <a:ln/>
        </p:spPr>
      </p:sp>
      <p:sp>
        <p:nvSpPr>
          <p:cNvPr id="8" name="Text 6"/>
          <p:cNvSpPr/>
          <p:nvPr/>
        </p:nvSpPr>
        <p:spPr>
          <a:xfrm>
            <a:off x="868680" y="2157984"/>
            <a:ext cx="310896" cy="310896"/>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2</a:t>
            </a:r>
            <a:endParaRPr lang="en-US" sz="1450" dirty="0"/>
          </a:p>
        </p:txBody>
      </p:sp>
      <p:sp>
        <p:nvSpPr>
          <p:cNvPr id="9" name="Text 7"/>
          <p:cNvSpPr/>
          <p:nvPr/>
        </p:nvSpPr>
        <p:spPr>
          <a:xfrm>
            <a:off x="1325880" y="2130552"/>
            <a:ext cx="6949440" cy="365760"/>
          </a:xfrm>
          <a:prstGeom prst="rect">
            <a:avLst/>
          </a:prstGeom>
          <a:noFill/>
          <a:ln/>
        </p:spPr>
        <p:txBody>
          <a:bodyPr wrap="square" lIns="0" tIns="0" rIns="0" bIns="0" rtlCol="0" anchor="ctr"/>
          <a:lstStyle/>
          <a:p>
            <a:pPr indent="0" marL="0">
              <a:buNone/>
            </a:pPr>
            <a:r>
              <a:rPr lang="en-US" sz="1300" dirty="0">
                <a:solidFill>
                  <a:srgbClr val="1B2138"/>
                </a:solidFill>
                <a:latin typeface="Calibri" pitchFamily="34" charset="0"/>
                <a:ea typeface="Calibri" pitchFamily="34" charset="-122"/>
                <a:cs typeface="Calibri" pitchFamily="34" charset="-120"/>
              </a:rPr>
              <a:t>Menerapkan Role Based Access Control (RBAC) untuk mengatur hak akses pengguna sesuai perannya.</a:t>
            </a:r>
            <a:endParaRPr lang="en-US" sz="1300" dirty="0"/>
          </a:p>
        </p:txBody>
      </p:sp>
      <p:sp>
        <p:nvSpPr>
          <p:cNvPr id="10" name="Shape 8"/>
          <p:cNvSpPr/>
          <p:nvPr/>
        </p:nvSpPr>
        <p:spPr>
          <a:xfrm>
            <a:off x="868680" y="2761488"/>
            <a:ext cx="310896" cy="310896"/>
          </a:xfrm>
          <a:prstGeom prst="ellipse">
            <a:avLst/>
          </a:prstGeom>
          <a:solidFill>
            <a:srgbClr val="1E2761"/>
          </a:solidFill>
          <a:ln/>
        </p:spPr>
      </p:sp>
      <p:sp>
        <p:nvSpPr>
          <p:cNvPr id="11" name="Text 9"/>
          <p:cNvSpPr/>
          <p:nvPr/>
        </p:nvSpPr>
        <p:spPr>
          <a:xfrm>
            <a:off x="868680" y="2761488"/>
            <a:ext cx="310896" cy="310896"/>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3</a:t>
            </a:r>
            <a:endParaRPr lang="en-US" sz="1450" dirty="0"/>
          </a:p>
        </p:txBody>
      </p:sp>
      <p:sp>
        <p:nvSpPr>
          <p:cNvPr id="12" name="Text 10"/>
          <p:cNvSpPr/>
          <p:nvPr/>
        </p:nvSpPr>
        <p:spPr>
          <a:xfrm>
            <a:off x="1325880" y="2734056"/>
            <a:ext cx="6949440" cy="365760"/>
          </a:xfrm>
          <a:prstGeom prst="rect">
            <a:avLst/>
          </a:prstGeom>
          <a:noFill/>
          <a:ln/>
        </p:spPr>
        <p:txBody>
          <a:bodyPr wrap="square" lIns="0" tIns="0" rIns="0" bIns="0" rtlCol="0" anchor="ctr"/>
          <a:lstStyle/>
          <a:p>
            <a:pPr indent="0" marL="0">
              <a:buNone/>
            </a:pPr>
            <a:r>
              <a:rPr lang="en-US" sz="1300" dirty="0">
                <a:solidFill>
                  <a:srgbClr val="1B2138"/>
                </a:solidFill>
                <a:latin typeface="Calibri" pitchFamily="34" charset="0"/>
                <a:ea typeface="Calibri" pitchFamily="34" charset="-122"/>
                <a:cs typeface="Calibri" pitchFamily="34" charset="-120"/>
              </a:rPr>
              <a:t>Mengimplementasikan approval workflow pada pencatatan transaksi keuangan untuk meningkatkan kontrol.</a:t>
            </a:r>
            <a:endParaRPr lang="en-US" sz="1300" dirty="0"/>
          </a:p>
        </p:txBody>
      </p:sp>
      <p:sp>
        <p:nvSpPr>
          <p:cNvPr id="13" name="Shape 11"/>
          <p:cNvSpPr/>
          <p:nvPr/>
        </p:nvSpPr>
        <p:spPr>
          <a:xfrm>
            <a:off x="868680" y="3364992"/>
            <a:ext cx="310896" cy="310896"/>
          </a:xfrm>
          <a:prstGeom prst="ellipse">
            <a:avLst/>
          </a:prstGeom>
          <a:solidFill>
            <a:srgbClr val="1E2761"/>
          </a:solidFill>
          <a:ln/>
        </p:spPr>
      </p:sp>
      <p:sp>
        <p:nvSpPr>
          <p:cNvPr id="14" name="Text 12"/>
          <p:cNvSpPr/>
          <p:nvPr/>
        </p:nvSpPr>
        <p:spPr>
          <a:xfrm>
            <a:off x="868680" y="3364992"/>
            <a:ext cx="310896" cy="310896"/>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4</a:t>
            </a:r>
            <a:endParaRPr lang="en-US" sz="1450" dirty="0"/>
          </a:p>
        </p:txBody>
      </p:sp>
      <p:sp>
        <p:nvSpPr>
          <p:cNvPr id="15" name="Text 13"/>
          <p:cNvSpPr/>
          <p:nvPr/>
        </p:nvSpPr>
        <p:spPr>
          <a:xfrm>
            <a:off x="1325880" y="3337560"/>
            <a:ext cx="6949440" cy="365760"/>
          </a:xfrm>
          <a:prstGeom prst="rect">
            <a:avLst/>
          </a:prstGeom>
          <a:noFill/>
          <a:ln/>
        </p:spPr>
        <p:txBody>
          <a:bodyPr wrap="square" lIns="0" tIns="0" rIns="0" bIns="0" rtlCol="0" anchor="ctr"/>
          <a:lstStyle/>
          <a:p>
            <a:pPr indent="0" marL="0">
              <a:buNone/>
            </a:pPr>
            <a:r>
              <a:rPr lang="en-US" sz="1300" dirty="0">
                <a:solidFill>
                  <a:srgbClr val="1B2138"/>
                </a:solidFill>
                <a:latin typeface="Calibri" pitchFamily="34" charset="0"/>
                <a:ea typeface="Calibri" pitchFamily="34" charset="-122"/>
                <a:cs typeface="Calibri" pitchFamily="34" charset="-120"/>
              </a:rPr>
              <a:t>Mengintegrasikan payment gateway Midtrans untuk mendukung pembayaran SPP secara daring.</a:t>
            </a:r>
            <a:endParaRPr lang="en-US" sz="1300" dirty="0"/>
          </a:p>
        </p:txBody>
      </p:sp>
      <p:sp>
        <p:nvSpPr>
          <p:cNvPr id="16" name="Shape 14"/>
          <p:cNvSpPr/>
          <p:nvPr/>
        </p:nvSpPr>
        <p:spPr>
          <a:xfrm>
            <a:off x="868680" y="3968496"/>
            <a:ext cx="310896" cy="310896"/>
          </a:xfrm>
          <a:prstGeom prst="ellipse">
            <a:avLst/>
          </a:prstGeom>
          <a:solidFill>
            <a:srgbClr val="1E2761"/>
          </a:solidFill>
          <a:ln/>
        </p:spPr>
      </p:sp>
      <p:sp>
        <p:nvSpPr>
          <p:cNvPr id="17" name="Text 15"/>
          <p:cNvSpPr/>
          <p:nvPr/>
        </p:nvSpPr>
        <p:spPr>
          <a:xfrm>
            <a:off x="868680" y="3968496"/>
            <a:ext cx="310896" cy="310896"/>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5</a:t>
            </a:r>
            <a:endParaRPr lang="en-US" sz="1450" dirty="0"/>
          </a:p>
        </p:txBody>
      </p:sp>
      <p:sp>
        <p:nvSpPr>
          <p:cNvPr id="18" name="Text 16"/>
          <p:cNvSpPr/>
          <p:nvPr/>
        </p:nvSpPr>
        <p:spPr>
          <a:xfrm>
            <a:off x="1325880" y="3941064"/>
            <a:ext cx="6949440" cy="365760"/>
          </a:xfrm>
          <a:prstGeom prst="rect">
            <a:avLst/>
          </a:prstGeom>
          <a:noFill/>
          <a:ln/>
        </p:spPr>
        <p:txBody>
          <a:bodyPr wrap="square" lIns="0" tIns="0" rIns="0" bIns="0" rtlCol="0" anchor="ctr"/>
          <a:lstStyle/>
          <a:p>
            <a:pPr indent="0" marL="0">
              <a:buNone/>
            </a:pPr>
            <a:r>
              <a:rPr lang="en-US" sz="1300" dirty="0">
                <a:solidFill>
                  <a:srgbClr val="1B2138"/>
                </a:solidFill>
                <a:latin typeface="Calibri" pitchFamily="34" charset="0"/>
                <a:ea typeface="Calibri" pitchFamily="34" charset="-122"/>
                <a:cs typeface="Calibri" pitchFamily="34" charset="-120"/>
              </a:rPr>
              <a:t>Menyediakan dashboard monitoring, notifikasi otomatis berupa email, serta import dan export data.</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02920" y="329184"/>
            <a:ext cx="8138160" cy="566928"/>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Batasan Masalah</a:t>
            </a:r>
            <a:endParaRPr lang="en-US" sz="3000" dirty="0"/>
          </a:p>
        </p:txBody>
      </p:sp>
      <p:sp>
        <p:nvSpPr>
          <p:cNvPr id="3" name="Shape 1"/>
          <p:cNvSpPr/>
          <p:nvPr/>
        </p:nvSpPr>
        <p:spPr>
          <a:xfrm>
            <a:off x="502920" y="1207008"/>
            <a:ext cx="4023360" cy="3310128"/>
          </a:xfrm>
          <a:prstGeom prst="roundRect">
            <a:avLst>
              <a:gd name="adj" fmla="val 2762"/>
            </a:avLst>
          </a:prstGeom>
          <a:solidFill>
            <a:srgbClr val="FFFFFF"/>
          </a:solidFill>
          <a:ln/>
          <a:effectLst>
            <a:outerShdw sx="100000" sy="100000" kx="0" ky="0" algn="bl" rotWithShape="0" blurRad="127000" dist="25400" dir="5400000">
              <a:srgbClr val="8894B0">
                <a:alpha val="28000"/>
              </a:srgbClr>
            </a:outerShdw>
          </a:effectLst>
        </p:spPr>
      </p:sp>
      <p:sp>
        <p:nvSpPr>
          <p:cNvPr id="4" name="Shape 2"/>
          <p:cNvSpPr/>
          <p:nvPr/>
        </p:nvSpPr>
        <p:spPr>
          <a:xfrm>
            <a:off x="4617720" y="1207008"/>
            <a:ext cx="4023360" cy="3310128"/>
          </a:xfrm>
          <a:prstGeom prst="roundRect">
            <a:avLst>
              <a:gd name="adj" fmla="val 2762"/>
            </a:avLst>
          </a:prstGeom>
          <a:solidFill>
            <a:srgbClr val="FFFFFF"/>
          </a:solidFill>
          <a:ln/>
          <a:effectLst>
            <a:outerShdw sx="100000" sy="100000" kx="0" ky="0" algn="bl" rotWithShape="0" blurRad="127000" dist="25400" dir="5400000">
              <a:srgbClr val="8894B0">
                <a:alpha val="28000"/>
              </a:srgbClr>
            </a:outerShdw>
          </a:effectLst>
        </p:spPr>
      </p:sp>
      <p:sp>
        <p:nvSpPr>
          <p:cNvPr id="5" name="Shape 3"/>
          <p:cNvSpPr/>
          <p:nvPr/>
        </p:nvSpPr>
        <p:spPr>
          <a:xfrm>
            <a:off x="704088" y="1481328"/>
            <a:ext cx="292608" cy="292608"/>
          </a:xfrm>
          <a:prstGeom prst="ellipse">
            <a:avLst/>
          </a:prstGeom>
          <a:solidFill>
            <a:srgbClr val="1E2761"/>
          </a:solidFill>
          <a:ln/>
        </p:spPr>
      </p:sp>
      <p:sp>
        <p:nvSpPr>
          <p:cNvPr id="6" name="Text 4"/>
          <p:cNvSpPr/>
          <p:nvPr/>
        </p:nvSpPr>
        <p:spPr>
          <a:xfrm>
            <a:off x="704088" y="1481328"/>
            <a:ext cx="292608" cy="292608"/>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1</a:t>
            </a:r>
            <a:endParaRPr lang="en-US" sz="1450" dirty="0"/>
          </a:p>
        </p:txBody>
      </p:sp>
      <p:sp>
        <p:nvSpPr>
          <p:cNvPr id="7" name="Text 5"/>
          <p:cNvSpPr/>
          <p:nvPr/>
        </p:nvSpPr>
        <p:spPr>
          <a:xfrm>
            <a:off x="1106424" y="1426464"/>
            <a:ext cx="3200400" cy="512064"/>
          </a:xfrm>
          <a:prstGeom prst="rect">
            <a:avLst/>
          </a:prstGeom>
          <a:noFill/>
          <a:ln/>
        </p:spPr>
        <p:txBody>
          <a:bodyPr wrap="square" lIns="0" tIns="0" rIns="0" bIns="0" rtlCol="0" anchor="ctr"/>
          <a:lstStyle/>
          <a:p>
            <a:pPr indent="0" marL="0">
              <a:lnSpc>
                <a:spcPts val="1450"/>
              </a:lnSpc>
              <a:buNone/>
            </a:pPr>
            <a:r>
              <a:rPr lang="en-US" sz="1150" dirty="0">
                <a:solidFill>
                  <a:srgbClr val="1B2138"/>
                </a:solidFill>
                <a:latin typeface="Calibri" pitchFamily="34" charset="0"/>
                <a:ea typeface="Calibri" pitchFamily="34" charset="-122"/>
                <a:cs typeface="Calibri" pitchFamily="34" charset="-120"/>
              </a:rPr>
              <a:t>Mengembangkan sistem yang sudah berjalan, bukan membangun sistem baru dari awal.</a:t>
            </a:r>
            <a:endParaRPr lang="en-US" sz="1150" dirty="0"/>
          </a:p>
        </p:txBody>
      </p:sp>
      <p:sp>
        <p:nvSpPr>
          <p:cNvPr id="8" name="Shape 6"/>
          <p:cNvSpPr/>
          <p:nvPr/>
        </p:nvSpPr>
        <p:spPr>
          <a:xfrm>
            <a:off x="704088" y="2084832"/>
            <a:ext cx="292608" cy="292608"/>
          </a:xfrm>
          <a:prstGeom prst="ellipse">
            <a:avLst/>
          </a:prstGeom>
          <a:solidFill>
            <a:srgbClr val="1E2761"/>
          </a:solidFill>
          <a:ln/>
        </p:spPr>
      </p:sp>
      <p:sp>
        <p:nvSpPr>
          <p:cNvPr id="9" name="Text 7"/>
          <p:cNvSpPr/>
          <p:nvPr/>
        </p:nvSpPr>
        <p:spPr>
          <a:xfrm>
            <a:off x="704088" y="2084832"/>
            <a:ext cx="292608" cy="292608"/>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2</a:t>
            </a:r>
            <a:endParaRPr lang="en-US" sz="1450" dirty="0"/>
          </a:p>
        </p:txBody>
      </p:sp>
      <p:sp>
        <p:nvSpPr>
          <p:cNvPr id="10" name="Text 8"/>
          <p:cNvSpPr/>
          <p:nvPr/>
        </p:nvSpPr>
        <p:spPr>
          <a:xfrm>
            <a:off x="1106424" y="2029968"/>
            <a:ext cx="3200400" cy="512064"/>
          </a:xfrm>
          <a:prstGeom prst="rect">
            <a:avLst/>
          </a:prstGeom>
          <a:noFill/>
          <a:ln/>
        </p:spPr>
        <p:txBody>
          <a:bodyPr wrap="square" lIns="0" tIns="0" rIns="0" bIns="0" rtlCol="0" anchor="ctr"/>
          <a:lstStyle/>
          <a:p>
            <a:pPr indent="0" marL="0">
              <a:lnSpc>
                <a:spcPts val="1450"/>
              </a:lnSpc>
              <a:buNone/>
            </a:pPr>
            <a:r>
              <a:rPr lang="en-US" sz="1150" dirty="0">
                <a:solidFill>
                  <a:srgbClr val="1B2138"/>
                </a:solidFill>
                <a:latin typeface="Calibri" pitchFamily="34" charset="0"/>
                <a:ea typeface="Calibri" pitchFamily="34" charset="-122"/>
                <a:cs typeface="Calibri" pitchFamily="34" charset="-120"/>
              </a:rPr>
              <a:t>Cakupan terbatas pada pembayaran SPP dan pencatatan pengeluaran operasional lembaga.</a:t>
            </a:r>
            <a:endParaRPr lang="en-US" sz="1150" dirty="0"/>
          </a:p>
        </p:txBody>
      </p:sp>
      <p:sp>
        <p:nvSpPr>
          <p:cNvPr id="11" name="Shape 9"/>
          <p:cNvSpPr/>
          <p:nvPr/>
        </p:nvSpPr>
        <p:spPr>
          <a:xfrm>
            <a:off x="704088" y="2688336"/>
            <a:ext cx="292608" cy="292608"/>
          </a:xfrm>
          <a:prstGeom prst="ellipse">
            <a:avLst/>
          </a:prstGeom>
          <a:solidFill>
            <a:srgbClr val="1E2761"/>
          </a:solidFill>
          <a:ln/>
        </p:spPr>
      </p:sp>
      <p:sp>
        <p:nvSpPr>
          <p:cNvPr id="12" name="Text 10"/>
          <p:cNvSpPr/>
          <p:nvPr/>
        </p:nvSpPr>
        <p:spPr>
          <a:xfrm>
            <a:off x="704088" y="2688336"/>
            <a:ext cx="292608" cy="292608"/>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3</a:t>
            </a:r>
            <a:endParaRPr lang="en-US" sz="1450" dirty="0"/>
          </a:p>
        </p:txBody>
      </p:sp>
      <p:sp>
        <p:nvSpPr>
          <p:cNvPr id="13" name="Text 11"/>
          <p:cNvSpPr/>
          <p:nvPr/>
        </p:nvSpPr>
        <p:spPr>
          <a:xfrm>
            <a:off x="1106424" y="2633472"/>
            <a:ext cx="3200400" cy="512064"/>
          </a:xfrm>
          <a:prstGeom prst="rect">
            <a:avLst/>
          </a:prstGeom>
          <a:noFill/>
          <a:ln/>
        </p:spPr>
        <p:txBody>
          <a:bodyPr wrap="square" lIns="0" tIns="0" rIns="0" bIns="0" rtlCol="0" anchor="ctr"/>
          <a:lstStyle/>
          <a:p>
            <a:pPr indent="0" marL="0">
              <a:lnSpc>
                <a:spcPts val="1450"/>
              </a:lnSpc>
              <a:buNone/>
            </a:pPr>
            <a:r>
              <a:rPr lang="en-US" sz="1150" dirty="0">
                <a:solidFill>
                  <a:srgbClr val="1B2138"/>
                </a:solidFill>
                <a:latin typeface="Calibri" pitchFamily="34" charset="0"/>
                <a:ea typeface="Calibri" pitchFamily="34" charset="-122"/>
                <a:cs typeface="Calibri" pitchFamily="34" charset="-120"/>
              </a:rPr>
              <a:t>RBAC dengan peran bendahara, pimpinan, serta siswa atau wali siswa.</a:t>
            </a:r>
            <a:endParaRPr lang="en-US" sz="1150" dirty="0"/>
          </a:p>
        </p:txBody>
      </p:sp>
      <p:sp>
        <p:nvSpPr>
          <p:cNvPr id="14" name="Shape 12"/>
          <p:cNvSpPr/>
          <p:nvPr/>
        </p:nvSpPr>
        <p:spPr>
          <a:xfrm>
            <a:off x="704088" y="3291840"/>
            <a:ext cx="292608" cy="292608"/>
          </a:xfrm>
          <a:prstGeom prst="ellipse">
            <a:avLst/>
          </a:prstGeom>
          <a:solidFill>
            <a:srgbClr val="1E2761"/>
          </a:solidFill>
          <a:ln/>
        </p:spPr>
      </p:sp>
      <p:sp>
        <p:nvSpPr>
          <p:cNvPr id="15" name="Text 13"/>
          <p:cNvSpPr/>
          <p:nvPr/>
        </p:nvSpPr>
        <p:spPr>
          <a:xfrm>
            <a:off x="704088" y="3291840"/>
            <a:ext cx="292608" cy="292608"/>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4</a:t>
            </a:r>
            <a:endParaRPr lang="en-US" sz="1450" dirty="0"/>
          </a:p>
        </p:txBody>
      </p:sp>
      <p:sp>
        <p:nvSpPr>
          <p:cNvPr id="16" name="Text 14"/>
          <p:cNvSpPr/>
          <p:nvPr/>
        </p:nvSpPr>
        <p:spPr>
          <a:xfrm>
            <a:off x="1106424" y="3236976"/>
            <a:ext cx="3200400" cy="512064"/>
          </a:xfrm>
          <a:prstGeom prst="rect">
            <a:avLst/>
          </a:prstGeom>
          <a:noFill/>
          <a:ln/>
        </p:spPr>
        <p:txBody>
          <a:bodyPr wrap="square" lIns="0" tIns="0" rIns="0" bIns="0" rtlCol="0" anchor="ctr"/>
          <a:lstStyle/>
          <a:p>
            <a:pPr indent="0" marL="0">
              <a:lnSpc>
                <a:spcPts val="1450"/>
              </a:lnSpc>
              <a:buNone/>
            </a:pPr>
            <a:r>
              <a:rPr lang="en-US" sz="1150" dirty="0">
                <a:solidFill>
                  <a:srgbClr val="1B2138"/>
                </a:solidFill>
                <a:latin typeface="Calibri" pitchFamily="34" charset="0"/>
                <a:ea typeface="Calibri" pitchFamily="34" charset="-122"/>
                <a:cs typeface="Calibri" pitchFamily="34" charset="-120"/>
              </a:rPr>
              <a:t>Approval workflow diterapkan pada pencatatan transaksi pengeluaran.</a:t>
            </a:r>
            <a:endParaRPr lang="en-US" sz="1150" dirty="0"/>
          </a:p>
        </p:txBody>
      </p:sp>
      <p:sp>
        <p:nvSpPr>
          <p:cNvPr id="17" name="Shape 15"/>
          <p:cNvSpPr/>
          <p:nvPr/>
        </p:nvSpPr>
        <p:spPr>
          <a:xfrm>
            <a:off x="704088" y="3895344"/>
            <a:ext cx="292608" cy="292608"/>
          </a:xfrm>
          <a:prstGeom prst="ellipse">
            <a:avLst/>
          </a:prstGeom>
          <a:solidFill>
            <a:srgbClr val="1E2761"/>
          </a:solidFill>
          <a:ln/>
        </p:spPr>
      </p:sp>
      <p:sp>
        <p:nvSpPr>
          <p:cNvPr id="18" name="Text 16"/>
          <p:cNvSpPr/>
          <p:nvPr/>
        </p:nvSpPr>
        <p:spPr>
          <a:xfrm>
            <a:off x="704088" y="3895344"/>
            <a:ext cx="292608" cy="292608"/>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5</a:t>
            </a:r>
            <a:endParaRPr lang="en-US" sz="1450" dirty="0"/>
          </a:p>
        </p:txBody>
      </p:sp>
      <p:sp>
        <p:nvSpPr>
          <p:cNvPr id="19" name="Text 17"/>
          <p:cNvSpPr/>
          <p:nvPr/>
        </p:nvSpPr>
        <p:spPr>
          <a:xfrm>
            <a:off x="1106424" y="3840480"/>
            <a:ext cx="3200400" cy="512064"/>
          </a:xfrm>
          <a:prstGeom prst="rect">
            <a:avLst/>
          </a:prstGeom>
          <a:noFill/>
          <a:ln/>
        </p:spPr>
        <p:txBody>
          <a:bodyPr wrap="square" lIns="0" tIns="0" rIns="0" bIns="0" rtlCol="0" anchor="ctr"/>
          <a:lstStyle/>
          <a:p>
            <a:pPr indent="0" marL="0">
              <a:lnSpc>
                <a:spcPts val="1450"/>
              </a:lnSpc>
              <a:buNone/>
            </a:pPr>
            <a:r>
              <a:rPr lang="en-US" sz="1150" dirty="0">
                <a:solidFill>
                  <a:srgbClr val="1B2138"/>
                </a:solidFill>
                <a:latin typeface="Calibri" pitchFamily="34" charset="0"/>
                <a:ea typeface="Calibri" pitchFamily="34" charset="-122"/>
                <a:cs typeface="Calibri" pitchFamily="34" charset="-120"/>
              </a:rPr>
              <a:t>Dashboard monitoring menampilkan pemasukan, pengeluaran, dan status pembayaran SPP.</a:t>
            </a:r>
            <a:endParaRPr lang="en-US" sz="1150" dirty="0"/>
          </a:p>
        </p:txBody>
      </p:sp>
      <p:sp>
        <p:nvSpPr>
          <p:cNvPr id="20" name="Shape 18"/>
          <p:cNvSpPr/>
          <p:nvPr/>
        </p:nvSpPr>
        <p:spPr>
          <a:xfrm>
            <a:off x="4818888" y="1481328"/>
            <a:ext cx="292608" cy="292608"/>
          </a:xfrm>
          <a:prstGeom prst="ellipse">
            <a:avLst/>
          </a:prstGeom>
          <a:solidFill>
            <a:srgbClr val="1E2761"/>
          </a:solidFill>
          <a:ln/>
        </p:spPr>
      </p:sp>
      <p:sp>
        <p:nvSpPr>
          <p:cNvPr id="21" name="Text 19"/>
          <p:cNvSpPr/>
          <p:nvPr/>
        </p:nvSpPr>
        <p:spPr>
          <a:xfrm>
            <a:off x="4818888" y="1481328"/>
            <a:ext cx="292608" cy="292608"/>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6</a:t>
            </a:r>
            <a:endParaRPr lang="en-US" sz="1450" dirty="0"/>
          </a:p>
        </p:txBody>
      </p:sp>
      <p:sp>
        <p:nvSpPr>
          <p:cNvPr id="22" name="Text 20"/>
          <p:cNvSpPr/>
          <p:nvPr/>
        </p:nvSpPr>
        <p:spPr>
          <a:xfrm>
            <a:off x="5221224" y="1426464"/>
            <a:ext cx="3200400" cy="512064"/>
          </a:xfrm>
          <a:prstGeom prst="rect">
            <a:avLst/>
          </a:prstGeom>
          <a:noFill/>
          <a:ln/>
        </p:spPr>
        <p:txBody>
          <a:bodyPr wrap="square" lIns="0" tIns="0" rIns="0" bIns="0" rtlCol="0" anchor="ctr"/>
          <a:lstStyle/>
          <a:p>
            <a:pPr indent="0" marL="0">
              <a:lnSpc>
                <a:spcPts val="1450"/>
              </a:lnSpc>
              <a:buNone/>
            </a:pPr>
            <a:r>
              <a:rPr lang="en-US" sz="1150" dirty="0">
                <a:solidFill>
                  <a:srgbClr val="1B2138"/>
                </a:solidFill>
                <a:latin typeface="Calibri" pitchFamily="34" charset="0"/>
                <a:ea typeface="Calibri" pitchFamily="34" charset="-122"/>
                <a:cs typeface="Calibri" pitchFamily="34" charset="-120"/>
              </a:rPr>
              <a:t>Payment gateway yang digunakan adalah Midtrans.</a:t>
            </a:r>
            <a:endParaRPr lang="en-US" sz="1150" dirty="0"/>
          </a:p>
        </p:txBody>
      </p:sp>
      <p:sp>
        <p:nvSpPr>
          <p:cNvPr id="23" name="Shape 21"/>
          <p:cNvSpPr/>
          <p:nvPr/>
        </p:nvSpPr>
        <p:spPr>
          <a:xfrm>
            <a:off x="4818888" y="2084832"/>
            <a:ext cx="292608" cy="292608"/>
          </a:xfrm>
          <a:prstGeom prst="ellipse">
            <a:avLst/>
          </a:prstGeom>
          <a:solidFill>
            <a:srgbClr val="1E2761"/>
          </a:solidFill>
          <a:ln/>
        </p:spPr>
      </p:sp>
      <p:sp>
        <p:nvSpPr>
          <p:cNvPr id="24" name="Text 22"/>
          <p:cNvSpPr/>
          <p:nvPr/>
        </p:nvSpPr>
        <p:spPr>
          <a:xfrm>
            <a:off x="4818888" y="2084832"/>
            <a:ext cx="292608" cy="292608"/>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7</a:t>
            </a:r>
            <a:endParaRPr lang="en-US" sz="1450" dirty="0"/>
          </a:p>
        </p:txBody>
      </p:sp>
      <p:sp>
        <p:nvSpPr>
          <p:cNvPr id="25" name="Text 23"/>
          <p:cNvSpPr/>
          <p:nvPr/>
        </p:nvSpPr>
        <p:spPr>
          <a:xfrm>
            <a:off x="5221224" y="2029968"/>
            <a:ext cx="3200400" cy="512064"/>
          </a:xfrm>
          <a:prstGeom prst="rect">
            <a:avLst/>
          </a:prstGeom>
          <a:noFill/>
          <a:ln/>
        </p:spPr>
        <p:txBody>
          <a:bodyPr wrap="square" lIns="0" tIns="0" rIns="0" bIns="0" rtlCol="0" anchor="ctr"/>
          <a:lstStyle/>
          <a:p>
            <a:pPr indent="0" marL="0">
              <a:lnSpc>
                <a:spcPts val="1450"/>
              </a:lnSpc>
              <a:buNone/>
            </a:pPr>
            <a:r>
              <a:rPr lang="en-US" sz="1150" dirty="0">
                <a:solidFill>
                  <a:srgbClr val="1B2138"/>
                </a:solidFill>
                <a:latin typeface="Calibri" pitchFamily="34" charset="0"/>
                <a:ea typeface="Calibri" pitchFamily="34" charset="-122"/>
                <a:cs typeface="Calibri" pitchFamily="34" charset="-120"/>
              </a:rPr>
              <a:t>Fitur pendukung berupa notifikasi email otomatis serta import dan export data.</a:t>
            </a:r>
            <a:endParaRPr lang="en-US" sz="1150" dirty="0"/>
          </a:p>
        </p:txBody>
      </p:sp>
      <p:sp>
        <p:nvSpPr>
          <p:cNvPr id="26" name="Shape 24"/>
          <p:cNvSpPr/>
          <p:nvPr/>
        </p:nvSpPr>
        <p:spPr>
          <a:xfrm>
            <a:off x="4818888" y="2688336"/>
            <a:ext cx="292608" cy="292608"/>
          </a:xfrm>
          <a:prstGeom prst="ellipse">
            <a:avLst/>
          </a:prstGeom>
          <a:solidFill>
            <a:srgbClr val="1E2761"/>
          </a:solidFill>
          <a:ln/>
        </p:spPr>
      </p:sp>
      <p:sp>
        <p:nvSpPr>
          <p:cNvPr id="27" name="Text 25"/>
          <p:cNvSpPr/>
          <p:nvPr/>
        </p:nvSpPr>
        <p:spPr>
          <a:xfrm>
            <a:off x="4818888" y="2688336"/>
            <a:ext cx="292608" cy="292608"/>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8</a:t>
            </a:r>
            <a:endParaRPr lang="en-US" sz="1450" dirty="0"/>
          </a:p>
        </p:txBody>
      </p:sp>
      <p:sp>
        <p:nvSpPr>
          <p:cNvPr id="28" name="Text 26"/>
          <p:cNvSpPr/>
          <p:nvPr/>
        </p:nvSpPr>
        <p:spPr>
          <a:xfrm>
            <a:off x="5221224" y="2633472"/>
            <a:ext cx="3200400" cy="512064"/>
          </a:xfrm>
          <a:prstGeom prst="rect">
            <a:avLst/>
          </a:prstGeom>
          <a:noFill/>
          <a:ln/>
        </p:spPr>
        <p:txBody>
          <a:bodyPr wrap="square" lIns="0" tIns="0" rIns="0" bIns="0" rtlCol="0" anchor="ctr"/>
          <a:lstStyle/>
          <a:p>
            <a:pPr indent="0" marL="0">
              <a:lnSpc>
                <a:spcPts val="1450"/>
              </a:lnSpc>
              <a:buNone/>
            </a:pPr>
            <a:r>
              <a:rPr lang="en-US" sz="1150" dirty="0">
                <a:solidFill>
                  <a:srgbClr val="1B2138"/>
                </a:solidFill>
                <a:latin typeface="Calibri" pitchFamily="34" charset="0"/>
                <a:ea typeface="Calibri" pitchFamily="34" charset="-122"/>
                <a:cs typeface="Calibri" pitchFamily="34" charset="-120"/>
              </a:rPr>
              <a:t>Mencakup pengelolaan tahun ajaran, kenaikan kelas, dan kelulusan siswa.</a:t>
            </a:r>
            <a:endParaRPr lang="en-US" sz="1150" dirty="0"/>
          </a:p>
        </p:txBody>
      </p:sp>
      <p:sp>
        <p:nvSpPr>
          <p:cNvPr id="29" name="Shape 27"/>
          <p:cNvSpPr/>
          <p:nvPr/>
        </p:nvSpPr>
        <p:spPr>
          <a:xfrm>
            <a:off x="4818888" y="3291840"/>
            <a:ext cx="292608" cy="292608"/>
          </a:xfrm>
          <a:prstGeom prst="ellipse">
            <a:avLst/>
          </a:prstGeom>
          <a:solidFill>
            <a:srgbClr val="1E2761"/>
          </a:solidFill>
          <a:ln/>
        </p:spPr>
      </p:sp>
      <p:sp>
        <p:nvSpPr>
          <p:cNvPr id="30" name="Text 28"/>
          <p:cNvSpPr/>
          <p:nvPr/>
        </p:nvSpPr>
        <p:spPr>
          <a:xfrm>
            <a:off x="4818888" y="3291840"/>
            <a:ext cx="292608" cy="292608"/>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9</a:t>
            </a:r>
            <a:endParaRPr lang="en-US" sz="1450" dirty="0"/>
          </a:p>
        </p:txBody>
      </p:sp>
      <p:sp>
        <p:nvSpPr>
          <p:cNvPr id="31" name="Text 29"/>
          <p:cNvSpPr/>
          <p:nvPr/>
        </p:nvSpPr>
        <p:spPr>
          <a:xfrm>
            <a:off x="5221224" y="3236976"/>
            <a:ext cx="3200400" cy="512064"/>
          </a:xfrm>
          <a:prstGeom prst="rect">
            <a:avLst/>
          </a:prstGeom>
          <a:noFill/>
          <a:ln/>
        </p:spPr>
        <p:txBody>
          <a:bodyPr wrap="square" lIns="0" tIns="0" rIns="0" bIns="0" rtlCol="0" anchor="ctr"/>
          <a:lstStyle/>
          <a:p>
            <a:pPr indent="0" marL="0">
              <a:lnSpc>
                <a:spcPts val="1450"/>
              </a:lnSpc>
              <a:buNone/>
            </a:pPr>
            <a:r>
              <a:rPr lang="en-US" sz="1150" dirty="0">
                <a:solidFill>
                  <a:srgbClr val="1B2138"/>
                </a:solidFill>
                <a:latin typeface="Calibri" pitchFamily="34" charset="0"/>
                <a:ea typeface="Calibri" pitchFamily="34" charset="-122"/>
                <a:cs typeface="Calibri" pitchFamily="34" charset="-120"/>
              </a:rPr>
              <a:t>Menyediakan halaman informasi publik lembaga dan keamanan akun mandiri.</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02920" y="329184"/>
            <a:ext cx="8138160" cy="566928"/>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Manfaat Tugas Akhir</a:t>
            </a:r>
            <a:endParaRPr lang="en-US" sz="3000" dirty="0"/>
          </a:p>
        </p:txBody>
      </p:sp>
      <p:sp>
        <p:nvSpPr>
          <p:cNvPr id="3" name="Shape 1"/>
          <p:cNvSpPr/>
          <p:nvPr/>
        </p:nvSpPr>
        <p:spPr>
          <a:xfrm>
            <a:off x="502920" y="1371600"/>
            <a:ext cx="2578608" cy="2615184"/>
          </a:xfrm>
          <a:prstGeom prst="roundRect">
            <a:avLst>
              <a:gd name="adj" fmla="val 3546"/>
            </a:avLst>
          </a:prstGeom>
          <a:solidFill>
            <a:srgbClr val="FFFFFF"/>
          </a:solidFill>
          <a:ln/>
          <a:effectLst>
            <a:outerShdw sx="100000" sy="100000" kx="0" ky="0" algn="bl" rotWithShape="0" blurRad="127000" dist="25400" dir="5400000">
              <a:srgbClr val="8894B0">
                <a:alpha val="28000"/>
              </a:srgbClr>
            </a:outerShdw>
          </a:effectLst>
        </p:spPr>
      </p:sp>
      <p:sp>
        <p:nvSpPr>
          <p:cNvPr id="4" name="Shape 2"/>
          <p:cNvSpPr/>
          <p:nvPr/>
        </p:nvSpPr>
        <p:spPr>
          <a:xfrm>
            <a:off x="1591056" y="1609344"/>
            <a:ext cx="402336" cy="402336"/>
          </a:xfrm>
          <a:prstGeom prst="ellipse">
            <a:avLst/>
          </a:prstGeom>
          <a:solidFill>
            <a:srgbClr val="1E2761"/>
          </a:solidFill>
          <a:ln/>
        </p:spPr>
      </p:sp>
      <p:sp>
        <p:nvSpPr>
          <p:cNvPr id="5" name="Text 3"/>
          <p:cNvSpPr/>
          <p:nvPr/>
        </p:nvSpPr>
        <p:spPr>
          <a:xfrm>
            <a:off x="1591056" y="1609344"/>
            <a:ext cx="402336" cy="402336"/>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1</a:t>
            </a:r>
            <a:endParaRPr lang="en-US" sz="1450" dirty="0"/>
          </a:p>
        </p:txBody>
      </p:sp>
      <p:sp>
        <p:nvSpPr>
          <p:cNvPr id="6" name="Text 4"/>
          <p:cNvSpPr/>
          <p:nvPr/>
        </p:nvSpPr>
        <p:spPr>
          <a:xfrm>
            <a:off x="667512" y="2139696"/>
            <a:ext cx="2249424" cy="347472"/>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LPA Handayani</a:t>
            </a:r>
            <a:endParaRPr lang="en-US" sz="1600" dirty="0"/>
          </a:p>
        </p:txBody>
      </p:sp>
      <p:sp>
        <p:nvSpPr>
          <p:cNvPr id="7" name="Text 5"/>
          <p:cNvSpPr/>
          <p:nvPr/>
        </p:nvSpPr>
        <p:spPr>
          <a:xfrm>
            <a:off x="722376" y="2542032"/>
            <a:ext cx="2139696" cy="1298448"/>
          </a:xfrm>
          <a:prstGeom prst="rect">
            <a:avLst/>
          </a:prstGeom>
          <a:noFill/>
          <a:ln/>
        </p:spPr>
        <p:txBody>
          <a:bodyPr wrap="square" lIns="0" tIns="0" rIns="0" bIns="0" rtlCol="0" anchor="t"/>
          <a:lstStyle/>
          <a:p>
            <a:pPr algn="l" indent="0" marL="0">
              <a:lnSpc>
                <a:spcPts val="1550"/>
              </a:lnSpc>
              <a:buNone/>
            </a:pPr>
            <a:r>
              <a:rPr lang="en-US" sz="1150" dirty="0">
                <a:solidFill>
                  <a:srgbClr val="5A6484"/>
                </a:solidFill>
                <a:latin typeface="Calibri" pitchFamily="34" charset="0"/>
                <a:ea typeface="Calibri" pitchFamily="34" charset="-122"/>
                <a:cs typeface="Calibri" pitchFamily="34" charset="-120"/>
              </a:rPr>
              <a:t>Pengelolaan keuangan SPP lebih aman dan terstruktur, kontrol akses meningkat, pembayaran lebih mudah, serta pemantauan kondisi keuangan lewat dashboard.</a:t>
            </a:r>
            <a:endParaRPr lang="en-US" sz="1150" dirty="0"/>
          </a:p>
        </p:txBody>
      </p:sp>
      <p:sp>
        <p:nvSpPr>
          <p:cNvPr id="8" name="Shape 6"/>
          <p:cNvSpPr/>
          <p:nvPr/>
        </p:nvSpPr>
        <p:spPr>
          <a:xfrm>
            <a:off x="3264408" y="1371600"/>
            <a:ext cx="2578608" cy="2615184"/>
          </a:xfrm>
          <a:prstGeom prst="roundRect">
            <a:avLst>
              <a:gd name="adj" fmla="val 3546"/>
            </a:avLst>
          </a:prstGeom>
          <a:solidFill>
            <a:srgbClr val="FFFFFF"/>
          </a:solidFill>
          <a:ln/>
          <a:effectLst>
            <a:outerShdw sx="100000" sy="100000" kx="0" ky="0" algn="bl" rotWithShape="0" blurRad="127000" dist="25400" dir="5400000">
              <a:srgbClr val="8894B0">
                <a:alpha val="28000"/>
              </a:srgbClr>
            </a:outerShdw>
          </a:effectLst>
        </p:spPr>
      </p:sp>
      <p:sp>
        <p:nvSpPr>
          <p:cNvPr id="9" name="Shape 7"/>
          <p:cNvSpPr/>
          <p:nvPr/>
        </p:nvSpPr>
        <p:spPr>
          <a:xfrm>
            <a:off x="4352544" y="1609344"/>
            <a:ext cx="402336" cy="402336"/>
          </a:xfrm>
          <a:prstGeom prst="ellipse">
            <a:avLst/>
          </a:prstGeom>
          <a:solidFill>
            <a:srgbClr val="1E2761"/>
          </a:solidFill>
          <a:ln/>
        </p:spPr>
      </p:sp>
      <p:sp>
        <p:nvSpPr>
          <p:cNvPr id="10" name="Text 8"/>
          <p:cNvSpPr/>
          <p:nvPr/>
        </p:nvSpPr>
        <p:spPr>
          <a:xfrm>
            <a:off x="4352544" y="1609344"/>
            <a:ext cx="402336" cy="402336"/>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2</a:t>
            </a:r>
            <a:endParaRPr lang="en-US" sz="1450" dirty="0"/>
          </a:p>
        </p:txBody>
      </p:sp>
      <p:sp>
        <p:nvSpPr>
          <p:cNvPr id="11" name="Text 9"/>
          <p:cNvSpPr/>
          <p:nvPr/>
        </p:nvSpPr>
        <p:spPr>
          <a:xfrm>
            <a:off x="3429000" y="2139696"/>
            <a:ext cx="2249424" cy="347472"/>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Kampus</a:t>
            </a:r>
            <a:endParaRPr lang="en-US" sz="1600" dirty="0"/>
          </a:p>
        </p:txBody>
      </p:sp>
      <p:sp>
        <p:nvSpPr>
          <p:cNvPr id="12" name="Text 10"/>
          <p:cNvSpPr/>
          <p:nvPr/>
        </p:nvSpPr>
        <p:spPr>
          <a:xfrm>
            <a:off x="3483864" y="2542032"/>
            <a:ext cx="2139696" cy="1298448"/>
          </a:xfrm>
          <a:prstGeom prst="rect">
            <a:avLst/>
          </a:prstGeom>
          <a:noFill/>
          <a:ln/>
        </p:spPr>
        <p:txBody>
          <a:bodyPr wrap="square" lIns="0" tIns="0" rIns="0" bIns="0" rtlCol="0" anchor="t"/>
          <a:lstStyle/>
          <a:p>
            <a:pPr algn="l" indent="0" marL="0">
              <a:lnSpc>
                <a:spcPts val="1550"/>
              </a:lnSpc>
              <a:buNone/>
            </a:pPr>
            <a:r>
              <a:rPr lang="en-US" sz="1150" dirty="0">
                <a:solidFill>
                  <a:srgbClr val="5A6484"/>
                </a:solidFill>
                <a:latin typeface="Calibri" pitchFamily="34" charset="0"/>
                <a:ea typeface="Calibri" pitchFamily="34" charset="-122"/>
                <a:cs typeface="Calibri" pitchFamily="34" charset="-120"/>
              </a:rPr>
              <a:t>Menjadi referensi akademik pengembangan sistem informasi manajemen keuangan berbasis web di lingkungan pendidikan.</a:t>
            </a:r>
            <a:endParaRPr lang="en-US" sz="1150" dirty="0"/>
          </a:p>
        </p:txBody>
      </p:sp>
      <p:sp>
        <p:nvSpPr>
          <p:cNvPr id="13" name="Shape 11"/>
          <p:cNvSpPr/>
          <p:nvPr/>
        </p:nvSpPr>
        <p:spPr>
          <a:xfrm>
            <a:off x="6025896" y="1371600"/>
            <a:ext cx="2578608" cy="2615184"/>
          </a:xfrm>
          <a:prstGeom prst="roundRect">
            <a:avLst>
              <a:gd name="adj" fmla="val 3546"/>
            </a:avLst>
          </a:prstGeom>
          <a:solidFill>
            <a:srgbClr val="FFFFFF"/>
          </a:solidFill>
          <a:ln/>
          <a:effectLst>
            <a:outerShdw sx="100000" sy="100000" kx="0" ky="0" algn="bl" rotWithShape="0" blurRad="127000" dist="25400" dir="5400000">
              <a:srgbClr val="8894B0">
                <a:alpha val="28000"/>
              </a:srgbClr>
            </a:outerShdw>
          </a:effectLst>
        </p:spPr>
      </p:sp>
      <p:sp>
        <p:nvSpPr>
          <p:cNvPr id="14" name="Shape 12"/>
          <p:cNvSpPr/>
          <p:nvPr/>
        </p:nvSpPr>
        <p:spPr>
          <a:xfrm>
            <a:off x="7114032" y="1609344"/>
            <a:ext cx="402336" cy="402336"/>
          </a:xfrm>
          <a:prstGeom prst="ellipse">
            <a:avLst/>
          </a:prstGeom>
          <a:solidFill>
            <a:srgbClr val="1E2761"/>
          </a:solidFill>
          <a:ln/>
        </p:spPr>
      </p:sp>
      <p:sp>
        <p:nvSpPr>
          <p:cNvPr id="15" name="Text 13"/>
          <p:cNvSpPr/>
          <p:nvPr/>
        </p:nvSpPr>
        <p:spPr>
          <a:xfrm>
            <a:off x="7114032" y="1609344"/>
            <a:ext cx="402336" cy="402336"/>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3</a:t>
            </a:r>
            <a:endParaRPr lang="en-US" sz="1450" dirty="0"/>
          </a:p>
        </p:txBody>
      </p:sp>
      <p:sp>
        <p:nvSpPr>
          <p:cNvPr id="16" name="Text 14"/>
          <p:cNvSpPr/>
          <p:nvPr/>
        </p:nvSpPr>
        <p:spPr>
          <a:xfrm>
            <a:off x="6190488" y="2139696"/>
            <a:ext cx="2249424" cy="347472"/>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Peneliti</a:t>
            </a:r>
            <a:endParaRPr lang="en-US" sz="1600" dirty="0"/>
          </a:p>
        </p:txBody>
      </p:sp>
      <p:sp>
        <p:nvSpPr>
          <p:cNvPr id="17" name="Text 15"/>
          <p:cNvSpPr/>
          <p:nvPr/>
        </p:nvSpPr>
        <p:spPr>
          <a:xfrm>
            <a:off x="6245352" y="2542032"/>
            <a:ext cx="2139696" cy="1298448"/>
          </a:xfrm>
          <a:prstGeom prst="rect">
            <a:avLst/>
          </a:prstGeom>
          <a:noFill/>
          <a:ln/>
        </p:spPr>
        <p:txBody>
          <a:bodyPr wrap="square" lIns="0" tIns="0" rIns="0" bIns="0" rtlCol="0" anchor="t"/>
          <a:lstStyle/>
          <a:p>
            <a:pPr algn="l" indent="0" marL="0">
              <a:lnSpc>
                <a:spcPts val="1550"/>
              </a:lnSpc>
              <a:buNone/>
            </a:pPr>
            <a:r>
              <a:rPr lang="en-US" sz="1150" dirty="0">
                <a:solidFill>
                  <a:srgbClr val="5A6484"/>
                </a:solidFill>
                <a:latin typeface="Calibri" pitchFamily="34" charset="0"/>
                <a:ea typeface="Calibri" pitchFamily="34" charset="-122"/>
                <a:cs typeface="Calibri" pitchFamily="34" charset="-120"/>
              </a:rPr>
              <a:t>Menambah pengetahuan dan pengalaman merancang sistem informasi keuangan dengan pengaturan hak akses dan pembayaran digital.</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02920" y="329184"/>
            <a:ext cx="8138160" cy="566928"/>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Metode Pelaksanaan</a:t>
            </a:r>
            <a:endParaRPr lang="en-US" sz="3000" dirty="0"/>
          </a:p>
        </p:txBody>
      </p:sp>
      <p:sp>
        <p:nvSpPr>
          <p:cNvPr id="3" name="Text 1"/>
          <p:cNvSpPr/>
          <p:nvPr/>
        </p:nvSpPr>
        <p:spPr>
          <a:xfrm>
            <a:off x="521208" y="886968"/>
            <a:ext cx="8138160" cy="274320"/>
          </a:xfrm>
          <a:prstGeom prst="rect">
            <a:avLst/>
          </a:prstGeom>
          <a:noFill/>
          <a:ln/>
        </p:spPr>
        <p:txBody>
          <a:bodyPr wrap="square" lIns="0" tIns="0" rIns="0" bIns="0" rtlCol="0" anchor="ctr"/>
          <a:lstStyle/>
          <a:p>
            <a:pPr algn="l" indent="0" marL="0">
              <a:buNone/>
            </a:pPr>
            <a:r>
              <a:rPr lang="en-US" sz="1250" dirty="0">
                <a:solidFill>
                  <a:srgbClr val="5A6484"/>
                </a:solidFill>
                <a:latin typeface="Calibri" pitchFamily="34" charset="0"/>
                <a:ea typeface="Calibri" pitchFamily="34" charset="-122"/>
                <a:cs typeface="Calibri" pitchFamily="34" charset="-120"/>
              </a:rPr>
              <a:t>System Development Life Cycle dengan pendekatan Waterfall</a:t>
            </a:r>
            <a:endParaRPr lang="en-US" sz="1250" dirty="0"/>
          </a:p>
        </p:txBody>
      </p:sp>
      <p:sp>
        <p:nvSpPr>
          <p:cNvPr id="4" name="Shape 2"/>
          <p:cNvSpPr/>
          <p:nvPr/>
        </p:nvSpPr>
        <p:spPr>
          <a:xfrm>
            <a:off x="502920" y="1325880"/>
            <a:ext cx="2615184" cy="1207008"/>
          </a:xfrm>
          <a:prstGeom prst="roundRect">
            <a:avLst>
              <a:gd name="adj" fmla="val 7576"/>
            </a:avLst>
          </a:prstGeom>
          <a:solidFill>
            <a:srgbClr val="FFFFFF"/>
          </a:solidFill>
          <a:ln/>
          <a:effectLst>
            <a:outerShdw sx="100000" sy="100000" kx="0" ky="0" algn="bl" rotWithShape="0" blurRad="127000" dist="25400" dir="5400000">
              <a:srgbClr val="8894B0">
                <a:alpha val="28000"/>
              </a:srgbClr>
            </a:outerShdw>
          </a:effectLst>
        </p:spPr>
      </p:sp>
      <p:sp>
        <p:nvSpPr>
          <p:cNvPr id="5" name="Shape 3"/>
          <p:cNvSpPr/>
          <p:nvPr/>
        </p:nvSpPr>
        <p:spPr>
          <a:xfrm>
            <a:off x="704088" y="1527048"/>
            <a:ext cx="329184" cy="329184"/>
          </a:xfrm>
          <a:prstGeom prst="ellipse">
            <a:avLst/>
          </a:prstGeom>
          <a:solidFill>
            <a:srgbClr val="1E2761"/>
          </a:solidFill>
          <a:ln/>
        </p:spPr>
      </p:sp>
      <p:sp>
        <p:nvSpPr>
          <p:cNvPr id="6" name="Text 4"/>
          <p:cNvSpPr/>
          <p:nvPr/>
        </p:nvSpPr>
        <p:spPr>
          <a:xfrm>
            <a:off x="704088" y="1527048"/>
            <a:ext cx="329184" cy="329184"/>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1</a:t>
            </a:r>
            <a:endParaRPr lang="en-US" sz="1450" dirty="0"/>
          </a:p>
        </p:txBody>
      </p:sp>
      <p:sp>
        <p:nvSpPr>
          <p:cNvPr id="7" name="Text 5"/>
          <p:cNvSpPr/>
          <p:nvPr/>
        </p:nvSpPr>
        <p:spPr>
          <a:xfrm>
            <a:off x="1106424" y="1508760"/>
            <a:ext cx="1828800" cy="36576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Pengumpulan Data</a:t>
            </a:r>
            <a:endParaRPr lang="en-US" sz="1350" dirty="0"/>
          </a:p>
        </p:txBody>
      </p:sp>
      <p:sp>
        <p:nvSpPr>
          <p:cNvPr id="8" name="Text 6"/>
          <p:cNvSpPr/>
          <p:nvPr/>
        </p:nvSpPr>
        <p:spPr>
          <a:xfrm>
            <a:off x="704088" y="1929384"/>
            <a:ext cx="2231136" cy="475488"/>
          </a:xfrm>
          <a:prstGeom prst="rect">
            <a:avLst/>
          </a:prstGeom>
          <a:noFill/>
          <a:ln/>
        </p:spPr>
        <p:txBody>
          <a:bodyPr wrap="square" lIns="0" tIns="0" rIns="0" bIns="0" rtlCol="0" anchor="t"/>
          <a:lstStyle/>
          <a:p>
            <a:pPr indent="0" marL="0">
              <a:lnSpc>
                <a:spcPts val="1400"/>
              </a:lnSpc>
              <a:buNone/>
            </a:pPr>
            <a:r>
              <a:rPr lang="en-US" sz="1100" dirty="0">
                <a:solidFill>
                  <a:srgbClr val="5A6484"/>
                </a:solidFill>
                <a:latin typeface="Calibri" pitchFamily="34" charset="0"/>
                <a:ea typeface="Calibri" pitchFamily="34" charset="-122"/>
                <a:cs typeface="Calibri" pitchFamily="34" charset="-120"/>
              </a:rPr>
              <a:t>Wawancara, observasi, dan studi literatur</a:t>
            </a:r>
            <a:endParaRPr lang="en-US" sz="1100" dirty="0"/>
          </a:p>
        </p:txBody>
      </p:sp>
      <p:sp>
        <p:nvSpPr>
          <p:cNvPr id="9" name="Shape 7"/>
          <p:cNvSpPr/>
          <p:nvPr/>
        </p:nvSpPr>
        <p:spPr>
          <a:xfrm>
            <a:off x="3264408" y="1325880"/>
            <a:ext cx="2615184" cy="1207008"/>
          </a:xfrm>
          <a:prstGeom prst="roundRect">
            <a:avLst>
              <a:gd name="adj" fmla="val 7576"/>
            </a:avLst>
          </a:prstGeom>
          <a:solidFill>
            <a:srgbClr val="FFFFFF"/>
          </a:solidFill>
          <a:ln/>
          <a:effectLst>
            <a:outerShdw sx="100000" sy="100000" kx="0" ky="0" algn="bl" rotWithShape="0" blurRad="127000" dist="25400" dir="5400000">
              <a:srgbClr val="8894B0">
                <a:alpha val="28000"/>
              </a:srgbClr>
            </a:outerShdw>
          </a:effectLst>
        </p:spPr>
      </p:sp>
      <p:sp>
        <p:nvSpPr>
          <p:cNvPr id="10" name="Shape 8"/>
          <p:cNvSpPr/>
          <p:nvPr/>
        </p:nvSpPr>
        <p:spPr>
          <a:xfrm>
            <a:off x="3465576" y="1527048"/>
            <a:ext cx="329184" cy="329184"/>
          </a:xfrm>
          <a:prstGeom prst="ellipse">
            <a:avLst/>
          </a:prstGeom>
          <a:solidFill>
            <a:srgbClr val="1E2761"/>
          </a:solidFill>
          <a:ln/>
        </p:spPr>
      </p:sp>
      <p:sp>
        <p:nvSpPr>
          <p:cNvPr id="11" name="Text 9"/>
          <p:cNvSpPr/>
          <p:nvPr/>
        </p:nvSpPr>
        <p:spPr>
          <a:xfrm>
            <a:off x="3465576" y="1527048"/>
            <a:ext cx="329184" cy="329184"/>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2</a:t>
            </a:r>
            <a:endParaRPr lang="en-US" sz="1450" dirty="0"/>
          </a:p>
        </p:txBody>
      </p:sp>
      <p:sp>
        <p:nvSpPr>
          <p:cNvPr id="12" name="Text 10"/>
          <p:cNvSpPr/>
          <p:nvPr/>
        </p:nvSpPr>
        <p:spPr>
          <a:xfrm>
            <a:off x="3867912" y="1508760"/>
            <a:ext cx="1828800" cy="36576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Analisis Sistem</a:t>
            </a:r>
            <a:endParaRPr lang="en-US" sz="1350" dirty="0"/>
          </a:p>
        </p:txBody>
      </p:sp>
      <p:sp>
        <p:nvSpPr>
          <p:cNvPr id="13" name="Text 11"/>
          <p:cNvSpPr/>
          <p:nvPr/>
        </p:nvSpPr>
        <p:spPr>
          <a:xfrm>
            <a:off x="3465576" y="1929384"/>
            <a:ext cx="2231136" cy="475488"/>
          </a:xfrm>
          <a:prstGeom prst="rect">
            <a:avLst/>
          </a:prstGeom>
          <a:noFill/>
          <a:ln/>
        </p:spPr>
        <p:txBody>
          <a:bodyPr wrap="square" lIns="0" tIns="0" rIns="0" bIns="0" rtlCol="0" anchor="t"/>
          <a:lstStyle/>
          <a:p>
            <a:pPr indent="0" marL="0">
              <a:lnSpc>
                <a:spcPts val="1400"/>
              </a:lnSpc>
              <a:buNone/>
            </a:pPr>
            <a:r>
              <a:rPr lang="en-US" sz="1100" dirty="0">
                <a:solidFill>
                  <a:srgbClr val="5A6484"/>
                </a:solidFill>
                <a:latin typeface="Calibri" pitchFamily="34" charset="0"/>
                <a:ea typeface="Calibri" pitchFamily="34" charset="-122"/>
                <a:cs typeface="Calibri" pitchFamily="34" charset="-120"/>
              </a:rPr>
              <a:t>Identifikasi masalah dan kebutuhan pengembangan</a:t>
            </a:r>
            <a:endParaRPr lang="en-US" sz="1100" dirty="0"/>
          </a:p>
        </p:txBody>
      </p:sp>
      <p:sp>
        <p:nvSpPr>
          <p:cNvPr id="14" name="Shape 12"/>
          <p:cNvSpPr/>
          <p:nvPr/>
        </p:nvSpPr>
        <p:spPr>
          <a:xfrm>
            <a:off x="6025896" y="1325880"/>
            <a:ext cx="2615184" cy="1207008"/>
          </a:xfrm>
          <a:prstGeom prst="roundRect">
            <a:avLst>
              <a:gd name="adj" fmla="val 7576"/>
            </a:avLst>
          </a:prstGeom>
          <a:solidFill>
            <a:srgbClr val="FFFFFF"/>
          </a:solidFill>
          <a:ln/>
          <a:effectLst>
            <a:outerShdw sx="100000" sy="100000" kx="0" ky="0" algn="bl" rotWithShape="0" blurRad="127000" dist="25400" dir="5400000">
              <a:srgbClr val="8894B0">
                <a:alpha val="28000"/>
              </a:srgbClr>
            </a:outerShdw>
          </a:effectLst>
        </p:spPr>
      </p:sp>
      <p:sp>
        <p:nvSpPr>
          <p:cNvPr id="15" name="Shape 13"/>
          <p:cNvSpPr/>
          <p:nvPr/>
        </p:nvSpPr>
        <p:spPr>
          <a:xfrm>
            <a:off x="6227064" y="1527048"/>
            <a:ext cx="329184" cy="329184"/>
          </a:xfrm>
          <a:prstGeom prst="ellipse">
            <a:avLst/>
          </a:prstGeom>
          <a:solidFill>
            <a:srgbClr val="1E2761"/>
          </a:solidFill>
          <a:ln/>
        </p:spPr>
      </p:sp>
      <p:sp>
        <p:nvSpPr>
          <p:cNvPr id="16" name="Text 14"/>
          <p:cNvSpPr/>
          <p:nvPr/>
        </p:nvSpPr>
        <p:spPr>
          <a:xfrm>
            <a:off x="6227064" y="1527048"/>
            <a:ext cx="329184" cy="329184"/>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3</a:t>
            </a:r>
            <a:endParaRPr lang="en-US" sz="1450" dirty="0"/>
          </a:p>
        </p:txBody>
      </p:sp>
      <p:sp>
        <p:nvSpPr>
          <p:cNvPr id="17" name="Text 15"/>
          <p:cNvSpPr/>
          <p:nvPr/>
        </p:nvSpPr>
        <p:spPr>
          <a:xfrm>
            <a:off x="6629400" y="1508760"/>
            <a:ext cx="1828800" cy="36576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Perancangan</a:t>
            </a:r>
            <a:endParaRPr lang="en-US" sz="1350" dirty="0"/>
          </a:p>
        </p:txBody>
      </p:sp>
      <p:sp>
        <p:nvSpPr>
          <p:cNvPr id="18" name="Text 16"/>
          <p:cNvSpPr/>
          <p:nvPr/>
        </p:nvSpPr>
        <p:spPr>
          <a:xfrm>
            <a:off x="6227064" y="1929384"/>
            <a:ext cx="2231136" cy="475488"/>
          </a:xfrm>
          <a:prstGeom prst="rect">
            <a:avLst/>
          </a:prstGeom>
          <a:noFill/>
          <a:ln/>
        </p:spPr>
        <p:txBody>
          <a:bodyPr wrap="square" lIns="0" tIns="0" rIns="0" bIns="0" rtlCol="0" anchor="t"/>
          <a:lstStyle/>
          <a:p>
            <a:pPr indent="0" marL="0">
              <a:lnSpc>
                <a:spcPts val="1400"/>
              </a:lnSpc>
              <a:buNone/>
            </a:pPr>
            <a:r>
              <a:rPr lang="en-US" sz="1100" dirty="0">
                <a:solidFill>
                  <a:srgbClr val="5A6484"/>
                </a:solidFill>
                <a:latin typeface="Calibri" pitchFamily="34" charset="0"/>
                <a:ea typeface="Calibri" pitchFamily="34" charset="-122"/>
                <a:cs typeface="Calibri" pitchFamily="34" charset="-120"/>
              </a:rPr>
              <a:t>Arsitektur, basis data, dan antarmuka pengguna</a:t>
            </a:r>
            <a:endParaRPr lang="en-US" sz="1100" dirty="0"/>
          </a:p>
        </p:txBody>
      </p:sp>
      <p:sp>
        <p:nvSpPr>
          <p:cNvPr id="19" name="Shape 17"/>
          <p:cNvSpPr/>
          <p:nvPr/>
        </p:nvSpPr>
        <p:spPr>
          <a:xfrm>
            <a:off x="502920" y="2761488"/>
            <a:ext cx="2615184" cy="1207008"/>
          </a:xfrm>
          <a:prstGeom prst="roundRect">
            <a:avLst>
              <a:gd name="adj" fmla="val 7576"/>
            </a:avLst>
          </a:prstGeom>
          <a:solidFill>
            <a:srgbClr val="FFFFFF"/>
          </a:solidFill>
          <a:ln/>
          <a:effectLst>
            <a:outerShdw sx="100000" sy="100000" kx="0" ky="0" algn="bl" rotWithShape="0" blurRad="127000" dist="25400" dir="5400000">
              <a:srgbClr val="8894B0">
                <a:alpha val="28000"/>
              </a:srgbClr>
            </a:outerShdw>
          </a:effectLst>
        </p:spPr>
      </p:sp>
      <p:sp>
        <p:nvSpPr>
          <p:cNvPr id="20" name="Shape 18"/>
          <p:cNvSpPr/>
          <p:nvPr/>
        </p:nvSpPr>
        <p:spPr>
          <a:xfrm>
            <a:off x="704088" y="2962656"/>
            <a:ext cx="329184" cy="329184"/>
          </a:xfrm>
          <a:prstGeom prst="ellipse">
            <a:avLst/>
          </a:prstGeom>
          <a:solidFill>
            <a:srgbClr val="1E2761"/>
          </a:solidFill>
          <a:ln/>
        </p:spPr>
      </p:sp>
      <p:sp>
        <p:nvSpPr>
          <p:cNvPr id="21" name="Text 19"/>
          <p:cNvSpPr/>
          <p:nvPr/>
        </p:nvSpPr>
        <p:spPr>
          <a:xfrm>
            <a:off x="704088" y="2962656"/>
            <a:ext cx="329184" cy="329184"/>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4</a:t>
            </a:r>
            <a:endParaRPr lang="en-US" sz="1450" dirty="0"/>
          </a:p>
        </p:txBody>
      </p:sp>
      <p:sp>
        <p:nvSpPr>
          <p:cNvPr id="22" name="Text 20"/>
          <p:cNvSpPr/>
          <p:nvPr/>
        </p:nvSpPr>
        <p:spPr>
          <a:xfrm>
            <a:off x="1106424" y="2944368"/>
            <a:ext cx="1828800" cy="36576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Implementasi</a:t>
            </a:r>
            <a:endParaRPr lang="en-US" sz="1350" dirty="0"/>
          </a:p>
        </p:txBody>
      </p:sp>
      <p:sp>
        <p:nvSpPr>
          <p:cNvPr id="23" name="Text 21"/>
          <p:cNvSpPr/>
          <p:nvPr/>
        </p:nvSpPr>
        <p:spPr>
          <a:xfrm>
            <a:off x="704088" y="3364992"/>
            <a:ext cx="2231136" cy="475488"/>
          </a:xfrm>
          <a:prstGeom prst="rect">
            <a:avLst/>
          </a:prstGeom>
          <a:noFill/>
          <a:ln/>
        </p:spPr>
        <p:txBody>
          <a:bodyPr wrap="square" lIns="0" tIns="0" rIns="0" bIns="0" rtlCol="0" anchor="t"/>
          <a:lstStyle/>
          <a:p>
            <a:pPr indent="0" marL="0">
              <a:lnSpc>
                <a:spcPts val="1400"/>
              </a:lnSpc>
              <a:buNone/>
            </a:pPr>
            <a:r>
              <a:rPr lang="en-US" sz="1100" dirty="0">
                <a:solidFill>
                  <a:srgbClr val="5A6484"/>
                </a:solidFill>
                <a:latin typeface="Calibri" pitchFamily="34" charset="0"/>
                <a:ea typeface="Calibri" pitchFamily="34" charset="-122"/>
                <a:cs typeface="Calibri" pitchFamily="34" charset="-120"/>
              </a:rPr>
              <a:t>Laravel, backend API dan frontend Filament</a:t>
            </a:r>
            <a:endParaRPr lang="en-US" sz="1100" dirty="0"/>
          </a:p>
        </p:txBody>
      </p:sp>
      <p:sp>
        <p:nvSpPr>
          <p:cNvPr id="24" name="Shape 22"/>
          <p:cNvSpPr/>
          <p:nvPr/>
        </p:nvSpPr>
        <p:spPr>
          <a:xfrm>
            <a:off x="3264408" y="2761488"/>
            <a:ext cx="2615184" cy="1207008"/>
          </a:xfrm>
          <a:prstGeom prst="roundRect">
            <a:avLst>
              <a:gd name="adj" fmla="val 7576"/>
            </a:avLst>
          </a:prstGeom>
          <a:solidFill>
            <a:srgbClr val="FFFFFF"/>
          </a:solidFill>
          <a:ln/>
          <a:effectLst>
            <a:outerShdw sx="100000" sy="100000" kx="0" ky="0" algn="bl" rotWithShape="0" blurRad="127000" dist="25400" dir="5400000">
              <a:srgbClr val="8894B0">
                <a:alpha val="28000"/>
              </a:srgbClr>
            </a:outerShdw>
          </a:effectLst>
        </p:spPr>
      </p:sp>
      <p:sp>
        <p:nvSpPr>
          <p:cNvPr id="25" name="Shape 23"/>
          <p:cNvSpPr/>
          <p:nvPr/>
        </p:nvSpPr>
        <p:spPr>
          <a:xfrm>
            <a:off x="3465576" y="2962656"/>
            <a:ext cx="329184" cy="329184"/>
          </a:xfrm>
          <a:prstGeom prst="ellipse">
            <a:avLst/>
          </a:prstGeom>
          <a:solidFill>
            <a:srgbClr val="1E2761"/>
          </a:solidFill>
          <a:ln/>
        </p:spPr>
      </p:sp>
      <p:sp>
        <p:nvSpPr>
          <p:cNvPr id="26" name="Text 24"/>
          <p:cNvSpPr/>
          <p:nvPr/>
        </p:nvSpPr>
        <p:spPr>
          <a:xfrm>
            <a:off x="3465576" y="2962656"/>
            <a:ext cx="329184" cy="329184"/>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5</a:t>
            </a:r>
            <a:endParaRPr lang="en-US" sz="1450" dirty="0"/>
          </a:p>
        </p:txBody>
      </p:sp>
      <p:sp>
        <p:nvSpPr>
          <p:cNvPr id="27" name="Text 25"/>
          <p:cNvSpPr/>
          <p:nvPr/>
        </p:nvSpPr>
        <p:spPr>
          <a:xfrm>
            <a:off x="3867912" y="2944368"/>
            <a:ext cx="1828800" cy="36576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Pengujian</a:t>
            </a:r>
            <a:endParaRPr lang="en-US" sz="1350" dirty="0"/>
          </a:p>
        </p:txBody>
      </p:sp>
      <p:sp>
        <p:nvSpPr>
          <p:cNvPr id="28" name="Text 26"/>
          <p:cNvSpPr/>
          <p:nvPr/>
        </p:nvSpPr>
        <p:spPr>
          <a:xfrm>
            <a:off x="3465576" y="3364992"/>
            <a:ext cx="2231136" cy="475488"/>
          </a:xfrm>
          <a:prstGeom prst="rect">
            <a:avLst/>
          </a:prstGeom>
          <a:noFill/>
          <a:ln/>
        </p:spPr>
        <p:txBody>
          <a:bodyPr wrap="square" lIns="0" tIns="0" rIns="0" bIns="0" rtlCol="0" anchor="t"/>
          <a:lstStyle/>
          <a:p>
            <a:pPr indent="0" marL="0">
              <a:lnSpc>
                <a:spcPts val="1400"/>
              </a:lnSpc>
              <a:buNone/>
            </a:pPr>
            <a:r>
              <a:rPr lang="en-US" sz="1100" dirty="0">
                <a:solidFill>
                  <a:srgbClr val="5A6484"/>
                </a:solidFill>
                <a:latin typeface="Calibri" pitchFamily="34" charset="0"/>
                <a:ea typeface="Calibri" pitchFamily="34" charset="-122"/>
                <a:cs typeface="Calibri" pitchFamily="34" charset="-120"/>
              </a:rPr>
              <a:t>Black Box manual dilengkapi pengujian otomatis</a:t>
            </a:r>
            <a:endParaRPr lang="en-US" sz="1100" dirty="0"/>
          </a:p>
        </p:txBody>
      </p:sp>
      <p:sp>
        <p:nvSpPr>
          <p:cNvPr id="29" name="Shape 27"/>
          <p:cNvSpPr/>
          <p:nvPr/>
        </p:nvSpPr>
        <p:spPr>
          <a:xfrm>
            <a:off x="6025896" y="2761488"/>
            <a:ext cx="2615184" cy="1207008"/>
          </a:xfrm>
          <a:prstGeom prst="roundRect">
            <a:avLst>
              <a:gd name="adj" fmla="val 7576"/>
            </a:avLst>
          </a:prstGeom>
          <a:solidFill>
            <a:srgbClr val="FFFFFF"/>
          </a:solidFill>
          <a:ln/>
          <a:effectLst>
            <a:outerShdw sx="100000" sy="100000" kx="0" ky="0" algn="bl" rotWithShape="0" blurRad="127000" dist="25400" dir="5400000">
              <a:srgbClr val="8894B0">
                <a:alpha val="28000"/>
              </a:srgbClr>
            </a:outerShdw>
          </a:effectLst>
        </p:spPr>
      </p:sp>
      <p:sp>
        <p:nvSpPr>
          <p:cNvPr id="30" name="Shape 28"/>
          <p:cNvSpPr/>
          <p:nvPr/>
        </p:nvSpPr>
        <p:spPr>
          <a:xfrm>
            <a:off x="6227064" y="2962656"/>
            <a:ext cx="329184" cy="329184"/>
          </a:xfrm>
          <a:prstGeom prst="ellipse">
            <a:avLst/>
          </a:prstGeom>
          <a:solidFill>
            <a:srgbClr val="1E2761"/>
          </a:solidFill>
          <a:ln/>
        </p:spPr>
      </p:sp>
      <p:sp>
        <p:nvSpPr>
          <p:cNvPr id="31" name="Text 29"/>
          <p:cNvSpPr/>
          <p:nvPr/>
        </p:nvSpPr>
        <p:spPr>
          <a:xfrm>
            <a:off x="6227064" y="2962656"/>
            <a:ext cx="329184" cy="329184"/>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6</a:t>
            </a:r>
            <a:endParaRPr lang="en-US" sz="1450" dirty="0"/>
          </a:p>
        </p:txBody>
      </p:sp>
      <p:sp>
        <p:nvSpPr>
          <p:cNvPr id="32" name="Text 30"/>
          <p:cNvSpPr/>
          <p:nvPr/>
        </p:nvSpPr>
        <p:spPr>
          <a:xfrm>
            <a:off x="6629400" y="2944368"/>
            <a:ext cx="1828800" cy="36576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Dokumentasi</a:t>
            </a:r>
            <a:endParaRPr lang="en-US" sz="1350" dirty="0"/>
          </a:p>
        </p:txBody>
      </p:sp>
      <p:sp>
        <p:nvSpPr>
          <p:cNvPr id="33" name="Text 31"/>
          <p:cNvSpPr/>
          <p:nvPr/>
        </p:nvSpPr>
        <p:spPr>
          <a:xfrm>
            <a:off x="6227064" y="3364992"/>
            <a:ext cx="2231136" cy="475488"/>
          </a:xfrm>
          <a:prstGeom prst="rect">
            <a:avLst/>
          </a:prstGeom>
          <a:noFill/>
          <a:ln/>
        </p:spPr>
        <p:txBody>
          <a:bodyPr wrap="square" lIns="0" tIns="0" rIns="0" bIns="0" rtlCol="0" anchor="t"/>
          <a:lstStyle/>
          <a:p>
            <a:pPr indent="0" marL="0">
              <a:lnSpc>
                <a:spcPts val="1400"/>
              </a:lnSpc>
              <a:buNone/>
            </a:pPr>
            <a:r>
              <a:rPr lang="en-US" sz="1100" dirty="0">
                <a:solidFill>
                  <a:srgbClr val="5A6484"/>
                </a:solidFill>
                <a:latin typeface="Calibri" pitchFamily="34" charset="0"/>
                <a:ea typeface="Calibri" pitchFamily="34" charset="-122"/>
                <a:cs typeface="Calibri" pitchFamily="34" charset="-120"/>
              </a:rPr>
              <a:t>Penyusunan laporan tugas akhir</a:t>
            </a:r>
            <a:endParaRPr lang="en-US" sz="1100" dirty="0"/>
          </a:p>
        </p:txBody>
      </p:sp>
      <p:sp>
        <p:nvSpPr>
          <p:cNvPr id="34" name="Shape 32"/>
          <p:cNvSpPr/>
          <p:nvPr/>
        </p:nvSpPr>
        <p:spPr>
          <a:xfrm>
            <a:off x="502920" y="4187952"/>
            <a:ext cx="8138160" cy="457200"/>
          </a:xfrm>
          <a:prstGeom prst="roundRect">
            <a:avLst>
              <a:gd name="adj" fmla="val 16000"/>
            </a:avLst>
          </a:prstGeom>
          <a:solidFill>
            <a:srgbClr val="1E2761"/>
          </a:solidFill>
          <a:ln/>
        </p:spPr>
      </p:sp>
      <p:sp>
        <p:nvSpPr>
          <p:cNvPr id="35" name="Text 33"/>
          <p:cNvSpPr/>
          <p:nvPr/>
        </p:nvSpPr>
        <p:spPr>
          <a:xfrm>
            <a:off x="685800" y="4187952"/>
            <a:ext cx="7772400" cy="45720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Dalam pelaksanaannya tahapan berjalan iteratif, karena kebutuhan baru bermunculan saat implementasi dan menuntut peninjauan ulang rancangan.</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02920" y="329184"/>
            <a:ext cx="8138160" cy="566928"/>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Hasil Implementasi</a:t>
            </a:r>
            <a:endParaRPr lang="en-US" sz="3000" dirty="0"/>
          </a:p>
        </p:txBody>
      </p:sp>
      <p:sp>
        <p:nvSpPr>
          <p:cNvPr id="3" name="Text 1"/>
          <p:cNvSpPr/>
          <p:nvPr/>
        </p:nvSpPr>
        <p:spPr>
          <a:xfrm>
            <a:off x="521208" y="886968"/>
            <a:ext cx="8138160" cy="274320"/>
          </a:xfrm>
          <a:prstGeom prst="rect">
            <a:avLst/>
          </a:prstGeom>
          <a:noFill/>
          <a:ln/>
        </p:spPr>
        <p:txBody>
          <a:bodyPr wrap="square" lIns="0" tIns="0" rIns="0" bIns="0" rtlCol="0" anchor="ctr"/>
          <a:lstStyle/>
          <a:p>
            <a:pPr algn="l" indent="0" marL="0">
              <a:buNone/>
            </a:pPr>
            <a:r>
              <a:rPr lang="en-US" sz="1250" dirty="0">
                <a:solidFill>
                  <a:srgbClr val="5A6484"/>
                </a:solidFill>
                <a:latin typeface="Calibri" pitchFamily="34" charset="0"/>
                <a:ea typeface="Calibri" pitchFamily="34" charset="-122"/>
                <a:cs typeface="Calibri" pitchFamily="34" charset="-120"/>
              </a:rPr>
              <a:t>Dua aplikasi Laravel terhubung REST API dengan satu basis data bersama</a:t>
            </a:r>
            <a:endParaRPr lang="en-US" sz="1250" dirty="0"/>
          </a:p>
        </p:txBody>
      </p:sp>
      <p:sp>
        <p:nvSpPr>
          <p:cNvPr id="4" name="Shape 2"/>
          <p:cNvSpPr/>
          <p:nvPr/>
        </p:nvSpPr>
        <p:spPr>
          <a:xfrm>
            <a:off x="502920" y="1325880"/>
            <a:ext cx="1883664" cy="1444752"/>
          </a:xfrm>
          <a:prstGeom prst="roundRect">
            <a:avLst>
              <a:gd name="adj" fmla="val 6329"/>
            </a:avLst>
          </a:prstGeom>
          <a:solidFill>
            <a:srgbClr val="FFFFFF"/>
          </a:solidFill>
          <a:ln/>
          <a:effectLst>
            <a:outerShdw sx="100000" sy="100000" kx="0" ky="0" algn="bl" rotWithShape="0" blurRad="127000" dist="25400" dir="5400000">
              <a:srgbClr val="8894B0">
                <a:alpha val="28000"/>
              </a:srgbClr>
            </a:outerShdw>
          </a:effectLst>
        </p:spPr>
      </p:sp>
      <p:sp>
        <p:nvSpPr>
          <p:cNvPr id="5" name="Text 3"/>
          <p:cNvSpPr/>
          <p:nvPr/>
        </p:nvSpPr>
        <p:spPr>
          <a:xfrm>
            <a:off x="594360" y="1426464"/>
            <a:ext cx="1700784" cy="603504"/>
          </a:xfrm>
          <a:prstGeom prst="rect">
            <a:avLst/>
          </a:prstGeom>
          <a:noFill/>
          <a:ln/>
        </p:spPr>
        <p:txBody>
          <a:bodyPr wrap="square" lIns="0" tIns="0" rIns="0" bIns="0" rtlCol="0" anchor="ctr"/>
          <a:lstStyle/>
          <a:p>
            <a:pPr algn="ctr" indent="0" marL="0">
              <a:buNone/>
            </a:pPr>
            <a:r>
              <a:rPr lang="en-US" sz="3400" b="1" dirty="0">
                <a:solidFill>
                  <a:srgbClr val="1E2761"/>
                </a:solidFill>
                <a:latin typeface="Cambria" pitchFamily="34" charset="0"/>
                <a:ea typeface="Cambria" pitchFamily="34" charset="-122"/>
                <a:cs typeface="Cambria" pitchFamily="34" charset="-120"/>
              </a:rPr>
              <a:t>2</a:t>
            </a:r>
            <a:endParaRPr lang="en-US" sz="3400" dirty="0"/>
          </a:p>
        </p:txBody>
      </p:sp>
      <p:sp>
        <p:nvSpPr>
          <p:cNvPr id="6" name="Text 4"/>
          <p:cNvSpPr/>
          <p:nvPr/>
        </p:nvSpPr>
        <p:spPr>
          <a:xfrm>
            <a:off x="594360" y="2048256"/>
            <a:ext cx="1700784" cy="237744"/>
          </a:xfrm>
          <a:prstGeom prst="rect">
            <a:avLst/>
          </a:prstGeom>
          <a:noFill/>
          <a:ln/>
        </p:spPr>
        <p:txBody>
          <a:bodyPr wrap="square" lIns="0" tIns="0" rIns="0" bIns="0" rtlCol="0" anchor="ctr"/>
          <a:lstStyle/>
          <a:p>
            <a:pPr algn="ctr" indent="0" marL="0">
              <a:buNone/>
            </a:pPr>
            <a:r>
              <a:rPr lang="en-US" sz="1150" b="1" dirty="0">
                <a:solidFill>
                  <a:srgbClr val="1B2138"/>
                </a:solidFill>
                <a:latin typeface="Calibri" pitchFamily="34" charset="0"/>
                <a:ea typeface="Calibri" pitchFamily="34" charset="-122"/>
                <a:cs typeface="Calibri" pitchFamily="34" charset="-120"/>
              </a:rPr>
              <a:t>Aplikasi web</a:t>
            </a:r>
            <a:endParaRPr lang="en-US" sz="1150" dirty="0"/>
          </a:p>
        </p:txBody>
      </p:sp>
      <p:sp>
        <p:nvSpPr>
          <p:cNvPr id="7" name="Text 5"/>
          <p:cNvSpPr/>
          <p:nvPr/>
        </p:nvSpPr>
        <p:spPr>
          <a:xfrm>
            <a:off x="612648" y="2286000"/>
            <a:ext cx="1664208" cy="402336"/>
          </a:xfrm>
          <a:prstGeom prst="rect">
            <a:avLst/>
          </a:prstGeom>
          <a:noFill/>
          <a:ln/>
        </p:spPr>
        <p:txBody>
          <a:bodyPr wrap="square" lIns="0" tIns="0" rIns="0" bIns="0" rtlCol="0" anchor="t"/>
          <a:lstStyle/>
          <a:p>
            <a:pPr algn="ctr" indent="0" marL="0">
              <a:lnSpc>
                <a:spcPts val="1200"/>
              </a:lnSpc>
              <a:buNone/>
            </a:pPr>
            <a:r>
              <a:rPr lang="en-US" sz="950" dirty="0">
                <a:solidFill>
                  <a:srgbClr val="5A6484"/>
                </a:solidFill>
                <a:latin typeface="Calibri" pitchFamily="34" charset="0"/>
                <a:ea typeface="Calibri" pitchFamily="34" charset="-122"/>
                <a:cs typeface="Calibri" pitchFamily="34" charset="-120"/>
              </a:rPr>
              <a:t>Backend API dan frontend Filament</a:t>
            </a:r>
            <a:endParaRPr lang="en-US" sz="950" dirty="0"/>
          </a:p>
        </p:txBody>
      </p:sp>
      <p:sp>
        <p:nvSpPr>
          <p:cNvPr id="8" name="Shape 6"/>
          <p:cNvSpPr/>
          <p:nvPr/>
        </p:nvSpPr>
        <p:spPr>
          <a:xfrm>
            <a:off x="2569464" y="1325880"/>
            <a:ext cx="1883664" cy="1444752"/>
          </a:xfrm>
          <a:prstGeom prst="roundRect">
            <a:avLst>
              <a:gd name="adj" fmla="val 6329"/>
            </a:avLst>
          </a:prstGeom>
          <a:solidFill>
            <a:srgbClr val="FFFFFF"/>
          </a:solidFill>
          <a:ln/>
          <a:effectLst>
            <a:outerShdw sx="100000" sy="100000" kx="0" ky="0" algn="bl" rotWithShape="0" blurRad="127000" dist="25400" dir="5400000">
              <a:srgbClr val="8894B0">
                <a:alpha val="28000"/>
              </a:srgbClr>
            </a:outerShdw>
          </a:effectLst>
        </p:spPr>
      </p:sp>
      <p:sp>
        <p:nvSpPr>
          <p:cNvPr id="9" name="Text 7"/>
          <p:cNvSpPr/>
          <p:nvPr/>
        </p:nvSpPr>
        <p:spPr>
          <a:xfrm>
            <a:off x="2660904" y="1426464"/>
            <a:ext cx="1700784" cy="603504"/>
          </a:xfrm>
          <a:prstGeom prst="rect">
            <a:avLst/>
          </a:prstGeom>
          <a:noFill/>
          <a:ln/>
        </p:spPr>
        <p:txBody>
          <a:bodyPr wrap="square" lIns="0" tIns="0" rIns="0" bIns="0" rtlCol="0" anchor="ctr"/>
          <a:lstStyle/>
          <a:p>
            <a:pPr algn="ctr" indent="0" marL="0">
              <a:buNone/>
            </a:pPr>
            <a:r>
              <a:rPr lang="en-US" sz="3400" b="1" dirty="0">
                <a:solidFill>
                  <a:srgbClr val="1E2761"/>
                </a:solidFill>
                <a:latin typeface="Cambria" pitchFamily="34" charset="0"/>
                <a:ea typeface="Cambria" pitchFamily="34" charset="-122"/>
                <a:cs typeface="Cambria" pitchFamily="34" charset="-120"/>
              </a:rPr>
              <a:t>5</a:t>
            </a:r>
            <a:endParaRPr lang="en-US" sz="3400" dirty="0"/>
          </a:p>
        </p:txBody>
      </p:sp>
      <p:sp>
        <p:nvSpPr>
          <p:cNvPr id="10" name="Text 8"/>
          <p:cNvSpPr/>
          <p:nvPr/>
        </p:nvSpPr>
        <p:spPr>
          <a:xfrm>
            <a:off x="2660904" y="2048256"/>
            <a:ext cx="1700784" cy="237744"/>
          </a:xfrm>
          <a:prstGeom prst="rect">
            <a:avLst/>
          </a:prstGeom>
          <a:noFill/>
          <a:ln/>
        </p:spPr>
        <p:txBody>
          <a:bodyPr wrap="square" lIns="0" tIns="0" rIns="0" bIns="0" rtlCol="0" anchor="ctr"/>
          <a:lstStyle/>
          <a:p>
            <a:pPr algn="ctr" indent="0" marL="0">
              <a:buNone/>
            </a:pPr>
            <a:r>
              <a:rPr lang="en-US" sz="1150" b="1" dirty="0">
                <a:solidFill>
                  <a:srgbClr val="1B2138"/>
                </a:solidFill>
                <a:latin typeface="Calibri" pitchFamily="34" charset="0"/>
                <a:ea typeface="Calibri" pitchFamily="34" charset="-122"/>
                <a:cs typeface="Calibri" pitchFamily="34" charset="-120"/>
              </a:rPr>
              <a:t>Peran pengguna</a:t>
            </a:r>
            <a:endParaRPr lang="en-US" sz="1150" dirty="0"/>
          </a:p>
        </p:txBody>
      </p:sp>
      <p:sp>
        <p:nvSpPr>
          <p:cNvPr id="11" name="Text 9"/>
          <p:cNvSpPr/>
          <p:nvPr/>
        </p:nvSpPr>
        <p:spPr>
          <a:xfrm>
            <a:off x="2679192" y="2286000"/>
            <a:ext cx="1664208" cy="402336"/>
          </a:xfrm>
          <a:prstGeom prst="rect">
            <a:avLst/>
          </a:prstGeom>
          <a:noFill/>
          <a:ln/>
        </p:spPr>
        <p:txBody>
          <a:bodyPr wrap="square" lIns="0" tIns="0" rIns="0" bIns="0" rtlCol="0" anchor="t"/>
          <a:lstStyle/>
          <a:p>
            <a:pPr algn="ctr" indent="0" marL="0">
              <a:lnSpc>
                <a:spcPts val="1200"/>
              </a:lnSpc>
              <a:buNone/>
            </a:pPr>
            <a:r>
              <a:rPr lang="en-US" sz="950" dirty="0">
                <a:solidFill>
                  <a:srgbClr val="5A6484"/>
                </a:solidFill>
                <a:latin typeface="Calibri" pitchFamily="34" charset="0"/>
                <a:ea typeface="Calibri" pitchFamily="34" charset="-122"/>
                <a:cs typeface="Calibri" pitchFamily="34" charset="-120"/>
              </a:rPr>
              <a:t>Hak akses diperiksa di sisi server</a:t>
            </a:r>
            <a:endParaRPr lang="en-US" sz="950" dirty="0"/>
          </a:p>
        </p:txBody>
      </p:sp>
      <p:sp>
        <p:nvSpPr>
          <p:cNvPr id="12" name="Shape 10"/>
          <p:cNvSpPr/>
          <p:nvPr/>
        </p:nvSpPr>
        <p:spPr>
          <a:xfrm>
            <a:off x="4636008" y="1325880"/>
            <a:ext cx="1883664" cy="1444752"/>
          </a:xfrm>
          <a:prstGeom prst="roundRect">
            <a:avLst>
              <a:gd name="adj" fmla="val 6329"/>
            </a:avLst>
          </a:prstGeom>
          <a:solidFill>
            <a:srgbClr val="FFFFFF"/>
          </a:solidFill>
          <a:ln/>
          <a:effectLst>
            <a:outerShdw sx="100000" sy="100000" kx="0" ky="0" algn="bl" rotWithShape="0" blurRad="127000" dist="25400" dir="5400000">
              <a:srgbClr val="8894B0">
                <a:alpha val="28000"/>
              </a:srgbClr>
            </a:outerShdw>
          </a:effectLst>
        </p:spPr>
      </p:sp>
      <p:sp>
        <p:nvSpPr>
          <p:cNvPr id="13" name="Text 11"/>
          <p:cNvSpPr/>
          <p:nvPr/>
        </p:nvSpPr>
        <p:spPr>
          <a:xfrm>
            <a:off x="4727448" y="1426464"/>
            <a:ext cx="1700784" cy="603504"/>
          </a:xfrm>
          <a:prstGeom prst="rect">
            <a:avLst/>
          </a:prstGeom>
          <a:noFill/>
          <a:ln/>
        </p:spPr>
        <p:txBody>
          <a:bodyPr wrap="square" lIns="0" tIns="0" rIns="0" bIns="0" rtlCol="0" anchor="ctr"/>
          <a:lstStyle/>
          <a:p>
            <a:pPr algn="ctr" indent="0" marL="0">
              <a:buNone/>
            </a:pPr>
            <a:r>
              <a:rPr lang="en-US" sz="3400" b="1" dirty="0">
                <a:solidFill>
                  <a:srgbClr val="1E2761"/>
                </a:solidFill>
                <a:latin typeface="Cambria" pitchFamily="34" charset="0"/>
                <a:ea typeface="Cambria" pitchFamily="34" charset="-122"/>
                <a:cs typeface="Cambria" pitchFamily="34" charset="-120"/>
              </a:rPr>
              <a:t>103</a:t>
            </a:r>
            <a:endParaRPr lang="en-US" sz="3400" dirty="0"/>
          </a:p>
        </p:txBody>
      </p:sp>
      <p:sp>
        <p:nvSpPr>
          <p:cNvPr id="14" name="Text 12"/>
          <p:cNvSpPr/>
          <p:nvPr/>
        </p:nvSpPr>
        <p:spPr>
          <a:xfrm>
            <a:off x="4727448" y="2048256"/>
            <a:ext cx="1700784" cy="237744"/>
          </a:xfrm>
          <a:prstGeom prst="rect">
            <a:avLst/>
          </a:prstGeom>
          <a:noFill/>
          <a:ln/>
        </p:spPr>
        <p:txBody>
          <a:bodyPr wrap="square" lIns="0" tIns="0" rIns="0" bIns="0" rtlCol="0" anchor="ctr"/>
          <a:lstStyle/>
          <a:p>
            <a:pPr algn="ctr" indent="0" marL="0">
              <a:buNone/>
            </a:pPr>
            <a:r>
              <a:rPr lang="en-US" sz="1150" b="1" dirty="0">
                <a:solidFill>
                  <a:srgbClr val="1B2138"/>
                </a:solidFill>
                <a:latin typeface="Calibri" pitchFamily="34" charset="0"/>
                <a:ea typeface="Calibri" pitchFamily="34" charset="-122"/>
                <a:cs typeface="Calibri" pitchFamily="34" charset="-120"/>
              </a:rPr>
              <a:t>Izin akses</a:t>
            </a:r>
            <a:endParaRPr lang="en-US" sz="1150" dirty="0"/>
          </a:p>
        </p:txBody>
      </p:sp>
      <p:sp>
        <p:nvSpPr>
          <p:cNvPr id="15" name="Text 13"/>
          <p:cNvSpPr/>
          <p:nvPr/>
        </p:nvSpPr>
        <p:spPr>
          <a:xfrm>
            <a:off x="4745736" y="2286000"/>
            <a:ext cx="1664208" cy="402336"/>
          </a:xfrm>
          <a:prstGeom prst="rect">
            <a:avLst/>
          </a:prstGeom>
          <a:noFill/>
          <a:ln/>
        </p:spPr>
        <p:txBody>
          <a:bodyPr wrap="square" lIns="0" tIns="0" rIns="0" bIns="0" rtlCol="0" anchor="t"/>
          <a:lstStyle/>
          <a:p>
            <a:pPr algn="ctr" indent="0" marL="0">
              <a:lnSpc>
                <a:spcPts val="1200"/>
              </a:lnSpc>
              <a:buNone/>
            </a:pPr>
            <a:r>
              <a:rPr lang="en-US" sz="950" dirty="0">
                <a:solidFill>
                  <a:srgbClr val="5A6484"/>
                </a:solidFill>
                <a:latin typeface="Calibri" pitchFamily="34" charset="0"/>
                <a:ea typeface="Calibri" pitchFamily="34" charset="-122"/>
                <a:cs typeface="Calibri" pitchFamily="34" charset="-120"/>
              </a:rPr>
              <a:t>Dipetakan ke halaman dan endpoint</a:t>
            </a:r>
            <a:endParaRPr lang="en-US" sz="950" dirty="0"/>
          </a:p>
        </p:txBody>
      </p:sp>
      <p:sp>
        <p:nvSpPr>
          <p:cNvPr id="16" name="Shape 14"/>
          <p:cNvSpPr/>
          <p:nvPr/>
        </p:nvSpPr>
        <p:spPr>
          <a:xfrm>
            <a:off x="6702552" y="1325880"/>
            <a:ext cx="1883664" cy="1444752"/>
          </a:xfrm>
          <a:prstGeom prst="roundRect">
            <a:avLst>
              <a:gd name="adj" fmla="val 6329"/>
            </a:avLst>
          </a:prstGeom>
          <a:solidFill>
            <a:srgbClr val="FFFFFF"/>
          </a:solidFill>
          <a:ln/>
          <a:effectLst>
            <a:outerShdw sx="100000" sy="100000" kx="0" ky="0" algn="bl" rotWithShape="0" blurRad="127000" dist="25400" dir="5400000">
              <a:srgbClr val="8894B0">
                <a:alpha val="28000"/>
              </a:srgbClr>
            </a:outerShdw>
          </a:effectLst>
        </p:spPr>
      </p:sp>
      <p:sp>
        <p:nvSpPr>
          <p:cNvPr id="17" name="Text 15"/>
          <p:cNvSpPr/>
          <p:nvPr/>
        </p:nvSpPr>
        <p:spPr>
          <a:xfrm>
            <a:off x="6793992" y="1426464"/>
            <a:ext cx="1700784" cy="603504"/>
          </a:xfrm>
          <a:prstGeom prst="rect">
            <a:avLst/>
          </a:prstGeom>
          <a:noFill/>
          <a:ln/>
        </p:spPr>
        <p:txBody>
          <a:bodyPr wrap="square" lIns="0" tIns="0" rIns="0" bIns="0" rtlCol="0" anchor="ctr"/>
          <a:lstStyle/>
          <a:p>
            <a:pPr algn="ctr" indent="0" marL="0">
              <a:buNone/>
            </a:pPr>
            <a:r>
              <a:rPr lang="en-US" sz="3400" b="1" dirty="0">
                <a:solidFill>
                  <a:srgbClr val="1E2761"/>
                </a:solidFill>
                <a:latin typeface="Cambria" pitchFamily="34" charset="0"/>
                <a:ea typeface="Cambria" pitchFamily="34" charset="-122"/>
                <a:cs typeface="Cambria" pitchFamily="34" charset="-120"/>
              </a:rPr>
              <a:t>38</a:t>
            </a:r>
            <a:endParaRPr lang="en-US" sz="3400" dirty="0"/>
          </a:p>
        </p:txBody>
      </p:sp>
      <p:sp>
        <p:nvSpPr>
          <p:cNvPr id="18" name="Text 16"/>
          <p:cNvSpPr/>
          <p:nvPr/>
        </p:nvSpPr>
        <p:spPr>
          <a:xfrm>
            <a:off x="6793992" y="2048256"/>
            <a:ext cx="1700784" cy="237744"/>
          </a:xfrm>
          <a:prstGeom prst="rect">
            <a:avLst/>
          </a:prstGeom>
          <a:noFill/>
          <a:ln/>
        </p:spPr>
        <p:txBody>
          <a:bodyPr wrap="square" lIns="0" tIns="0" rIns="0" bIns="0" rtlCol="0" anchor="ctr"/>
          <a:lstStyle/>
          <a:p>
            <a:pPr algn="ctr" indent="0" marL="0">
              <a:buNone/>
            </a:pPr>
            <a:r>
              <a:rPr lang="en-US" sz="1150" b="1" dirty="0">
                <a:solidFill>
                  <a:srgbClr val="1B2138"/>
                </a:solidFill>
                <a:latin typeface="Calibri" pitchFamily="34" charset="0"/>
                <a:ea typeface="Calibri" pitchFamily="34" charset="-122"/>
                <a:cs typeface="Calibri" pitchFamily="34" charset="-120"/>
              </a:rPr>
              <a:t>Tabel basis data</a:t>
            </a:r>
            <a:endParaRPr lang="en-US" sz="1150" dirty="0"/>
          </a:p>
        </p:txBody>
      </p:sp>
      <p:sp>
        <p:nvSpPr>
          <p:cNvPr id="19" name="Text 17"/>
          <p:cNvSpPr/>
          <p:nvPr/>
        </p:nvSpPr>
        <p:spPr>
          <a:xfrm>
            <a:off x="6812280" y="2286000"/>
            <a:ext cx="1664208" cy="402336"/>
          </a:xfrm>
          <a:prstGeom prst="rect">
            <a:avLst/>
          </a:prstGeom>
          <a:noFill/>
          <a:ln/>
        </p:spPr>
        <p:txBody>
          <a:bodyPr wrap="square" lIns="0" tIns="0" rIns="0" bIns="0" rtlCol="0" anchor="t"/>
          <a:lstStyle/>
          <a:p>
            <a:pPr algn="ctr" indent="0" marL="0">
              <a:lnSpc>
                <a:spcPts val="1200"/>
              </a:lnSpc>
              <a:buNone/>
            </a:pPr>
            <a:r>
              <a:rPr lang="en-US" sz="950" dirty="0">
                <a:solidFill>
                  <a:srgbClr val="5A6484"/>
                </a:solidFill>
                <a:latin typeface="Calibri" pitchFamily="34" charset="0"/>
                <a:ea typeface="Calibri" pitchFamily="34" charset="-122"/>
                <a:cs typeface="Calibri" pitchFamily="34" charset="-120"/>
              </a:rPr>
              <a:t>Termasuk modul tahun ajaran</a:t>
            </a:r>
            <a:endParaRPr lang="en-US" sz="950" dirty="0"/>
          </a:p>
        </p:txBody>
      </p:sp>
      <p:sp>
        <p:nvSpPr>
          <p:cNvPr id="20" name="Shape 18"/>
          <p:cNvSpPr/>
          <p:nvPr/>
        </p:nvSpPr>
        <p:spPr>
          <a:xfrm>
            <a:off x="502920" y="2926080"/>
            <a:ext cx="8138160" cy="1627632"/>
          </a:xfrm>
          <a:prstGeom prst="roundRect">
            <a:avLst>
              <a:gd name="adj" fmla="val 5618"/>
            </a:avLst>
          </a:prstGeom>
          <a:solidFill>
            <a:srgbClr val="FFFFFF"/>
          </a:solidFill>
          <a:ln/>
          <a:effectLst>
            <a:outerShdw sx="100000" sy="100000" kx="0" ky="0" algn="bl" rotWithShape="0" blurRad="127000" dist="25400" dir="5400000">
              <a:srgbClr val="8894B0">
                <a:alpha val="28000"/>
              </a:srgbClr>
            </a:outerShdw>
          </a:effectLst>
        </p:spPr>
      </p:sp>
      <p:sp>
        <p:nvSpPr>
          <p:cNvPr id="21" name="Shape 19"/>
          <p:cNvSpPr/>
          <p:nvPr/>
        </p:nvSpPr>
        <p:spPr>
          <a:xfrm>
            <a:off x="731520" y="3172968"/>
            <a:ext cx="100584" cy="100584"/>
          </a:xfrm>
          <a:prstGeom prst="ellipse">
            <a:avLst/>
          </a:prstGeom>
          <a:solidFill>
            <a:srgbClr val="C8A951"/>
          </a:solidFill>
          <a:ln/>
        </p:spPr>
      </p:sp>
      <p:sp>
        <p:nvSpPr>
          <p:cNvPr id="22" name="Text 20"/>
          <p:cNvSpPr/>
          <p:nvPr/>
        </p:nvSpPr>
        <p:spPr>
          <a:xfrm>
            <a:off x="932688" y="3072384"/>
            <a:ext cx="7498080" cy="329184"/>
          </a:xfrm>
          <a:prstGeom prst="rect">
            <a:avLst/>
          </a:prstGeom>
          <a:noFill/>
          <a:ln/>
        </p:spPr>
        <p:txBody>
          <a:bodyPr wrap="square" lIns="0" tIns="0" rIns="0" bIns="0" rtlCol="0" anchor="ctr"/>
          <a:lstStyle/>
          <a:p>
            <a:pPr indent="0" marL="0">
              <a:buNone/>
            </a:pPr>
            <a:r>
              <a:rPr lang="en-US" sz="1150" dirty="0">
                <a:solidFill>
                  <a:srgbClr val="1B2138"/>
                </a:solidFill>
                <a:latin typeface="Calibri" pitchFamily="34" charset="0"/>
                <a:ea typeface="Calibri" pitchFamily="34" charset="-122"/>
                <a:cs typeface="Calibri" pitchFamily="34" charset="-120"/>
              </a:rPr>
              <a:t>RBAC lima peran, pemetaan izin tersimpan di basis data sehingga dapat diubah tanpa mengubah kode.</a:t>
            </a:r>
            <a:endParaRPr lang="en-US" sz="1150" dirty="0"/>
          </a:p>
        </p:txBody>
      </p:sp>
      <p:sp>
        <p:nvSpPr>
          <p:cNvPr id="23" name="Shape 21"/>
          <p:cNvSpPr/>
          <p:nvPr/>
        </p:nvSpPr>
        <p:spPr>
          <a:xfrm>
            <a:off x="731520" y="3538728"/>
            <a:ext cx="100584" cy="100584"/>
          </a:xfrm>
          <a:prstGeom prst="ellipse">
            <a:avLst/>
          </a:prstGeom>
          <a:solidFill>
            <a:srgbClr val="C8A951"/>
          </a:solidFill>
          <a:ln/>
        </p:spPr>
      </p:sp>
      <p:sp>
        <p:nvSpPr>
          <p:cNvPr id="24" name="Text 22"/>
          <p:cNvSpPr/>
          <p:nvPr/>
        </p:nvSpPr>
        <p:spPr>
          <a:xfrm>
            <a:off x="932688" y="3438144"/>
            <a:ext cx="7498080" cy="329184"/>
          </a:xfrm>
          <a:prstGeom prst="rect">
            <a:avLst/>
          </a:prstGeom>
          <a:noFill/>
          <a:ln/>
        </p:spPr>
        <p:txBody>
          <a:bodyPr wrap="square" lIns="0" tIns="0" rIns="0" bIns="0" rtlCol="0" anchor="ctr"/>
          <a:lstStyle/>
          <a:p>
            <a:pPr indent="0" marL="0">
              <a:buNone/>
            </a:pPr>
            <a:r>
              <a:rPr lang="en-US" sz="1150" dirty="0">
                <a:solidFill>
                  <a:srgbClr val="1B2138"/>
                </a:solidFill>
                <a:latin typeface="Calibri" pitchFamily="34" charset="0"/>
                <a:ea typeface="Calibri" pitchFamily="34" charset="-122"/>
                <a:cs typeface="Calibri" pitchFamily="34" charset="-120"/>
              </a:rPr>
              <a:t>Approval pengeluaran bertahap: diajukan, disetujui atau ditolak, sampai dicairkan, dengan persetujuan otomatis per cabang.</a:t>
            </a:r>
            <a:endParaRPr lang="en-US" sz="1150" dirty="0"/>
          </a:p>
        </p:txBody>
      </p:sp>
      <p:sp>
        <p:nvSpPr>
          <p:cNvPr id="25" name="Shape 23"/>
          <p:cNvSpPr/>
          <p:nvPr/>
        </p:nvSpPr>
        <p:spPr>
          <a:xfrm>
            <a:off x="731520" y="3904488"/>
            <a:ext cx="100584" cy="100584"/>
          </a:xfrm>
          <a:prstGeom prst="ellipse">
            <a:avLst/>
          </a:prstGeom>
          <a:solidFill>
            <a:srgbClr val="C8A951"/>
          </a:solidFill>
          <a:ln/>
        </p:spPr>
      </p:sp>
      <p:sp>
        <p:nvSpPr>
          <p:cNvPr id="26" name="Text 24"/>
          <p:cNvSpPr/>
          <p:nvPr/>
        </p:nvSpPr>
        <p:spPr>
          <a:xfrm>
            <a:off x="932688" y="3803904"/>
            <a:ext cx="7498080" cy="329184"/>
          </a:xfrm>
          <a:prstGeom prst="rect">
            <a:avLst/>
          </a:prstGeom>
          <a:noFill/>
          <a:ln/>
        </p:spPr>
        <p:txBody>
          <a:bodyPr wrap="square" lIns="0" tIns="0" rIns="0" bIns="0" rtlCol="0" anchor="ctr"/>
          <a:lstStyle/>
          <a:p>
            <a:pPr indent="0" marL="0">
              <a:buNone/>
            </a:pPr>
            <a:r>
              <a:rPr lang="en-US" sz="1150" dirty="0">
                <a:solidFill>
                  <a:srgbClr val="1B2138"/>
                </a:solidFill>
                <a:latin typeface="Calibri" pitchFamily="34" charset="0"/>
                <a:ea typeface="Calibri" pitchFamily="34" charset="-122"/>
                <a:cs typeface="Calibri" pitchFamily="34" charset="-120"/>
              </a:rPr>
              <a:t>Pembayaran Midtrans Snap beberapa kanal, pelunasan banyak tagihan sekaligus, status diperbarui lewat webhook terverifikasi.</a:t>
            </a:r>
            <a:endParaRPr lang="en-US" sz="1150" dirty="0"/>
          </a:p>
        </p:txBody>
      </p:sp>
      <p:sp>
        <p:nvSpPr>
          <p:cNvPr id="27" name="Shape 25"/>
          <p:cNvSpPr/>
          <p:nvPr/>
        </p:nvSpPr>
        <p:spPr>
          <a:xfrm>
            <a:off x="731520" y="4270248"/>
            <a:ext cx="100584" cy="100584"/>
          </a:xfrm>
          <a:prstGeom prst="ellipse">
            <a:avLst/>
          </a:prstGeom>
          <a:solidFill>
            <a:srgbClr val="C8A951"/>
          </a:solidFill>
          <a:ln/>
        </p:spPr>
      </p:sp>
      <p:sp>
        <p:nvSpPr>
          <p:cNvPr id="28" name="Text 26"/>
          <p:cNvSpPr/>
          <p:nvPr/>
        </p:nvSpPr>
        <p:spPr>
          <a:xfrm>
            <a:off x="932688" y="4169664"/>
            <a:ext cx="7498080" cy="329184"/>
          </a:xfrm>
          <a:prstGeom prst="rect">
            <a:avLst/>
          </a:prstGeom>
          <a:noFill/>
          <a:ln/>
        </p:spPr>
        <p:txBody>
          <a:bodyPr wrap="square" lIns="0" tIns="0" rIns="0" bIns="0" rtlCol="0" anchor="ctr"/>
          <a:lstStyle/>
          <a:p>
            <a:pPr indent="0" marL="0">
              <a:buNone/>
            </a:pPr>
            <a:r>
              <a:rPr lang="en-US" sz="1150" dirty="0">
                <a:solidFill>
                  <a:srgbClr val="1B2138"/>
                </a:solidFill>
                <a:latin typeface="Calibri" pitchFamily="34" charset="0"/>
                <a:ea typeface="Calibri" pitchFamily="34" charset="-122"/>
                <a:cs typeface="Calibri" pitchFamily="34" charset="-120"/>
              </a:rPr>
              <a:t>Dashboard monitoring, empat jenis notifikasi surel beserta lognya, serta import dan export berbasis berkas Excel.</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21208" y="274320"/>
            <a:ext cx="3657600" cy="219456"/>
          </a:xfrm>
          <a:prstGeom prst="rect">
            <a:avLst/>
          </a:prstGeom>
          <a:noFill/>
          <a:ln/>
        </p:spPr>
        <p:txBody>
          <a:bodyPr wrap="square" lIns="0" tIns="0" rIns="0" bIns="0" rtlCol="0" anchor="ctr"/>
          <a:lstStyle/>
          <a:p>
            <a:pPr indent="0" marL="0">
              <a:buNone/>
            </a:pPr>
            <a:r>
              <a:rPr lang="en-US" sz="950" b="1" spc="200" kern="0" dirty="0">
                <a:solidFill>
                  <a:srgbClr val="C8A951"/>
                </a:solidFill>
                <a:latin typeface="Calibri" pitchFamily="34" charset="0"/>
                <a:ea typeface="Calibri" pitchFamily="34" charset="-122"/>
                <a:cs typeface="Calibri" pitchFamily="34" charset="-120"/>
              </a:rPr>
              <a:t>DEMO PROGRAM  01</a:t>
            </a:r>
            <a:endParaRPr lang="en-US" sz="950" dirty="0"/>
          </a:p>
        </p:txBody>
      </p:sp>
      <p:sp>
        <p:nvSpPr>
          <p:cNvPr id="3" name="Text 1"/>
          <p:cNvSpPr/>
          <p:nvPr/>
        </p:nvSpPr>
        <p:spPr>
          <a:xfrm>
            <a:off x="502920" y="512064"/>
            <a:ext cx="8138160" cy="438912"/>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Kontrol Akses Berbasis Peran</a:t>
            </a:r>
            <a:endParaRPr lang="en-US" sz="2600" dirty="0"/>
          </a:p>
        </p:txBody>
      </p:sp>
      <p:sp>
        <p:nvSpPr>
          <p:cNvPr id="4" name="Text 2"/>
          <p:cNvSpPr/>
          <p:nvPr/>
        </p:nvSpPr>
        <p:spPr>
          <a:xfrm>
            <a:off x="521208" y="950976"/>
            <a:ext cx="8138160" cy="237744"/>
          </a:xfrm>
          <a:prstGeom prst="rect">
            <a:avLst/>
          </a:prstGeom>
          <a:noFill/>
          <a:ln/>
        </p:spPr>
        <p:txBody>
          <a:bodyPr wrap="square" lIns="0" tIns="0" rIns="0" bIns="0" rtlCol="0" anchor="ctr"/>
          <a:lstStyle/>
          <a:p>
            <a:pPr indent="0" marL="0">
              <a:buNone/>
            </a:pPr>
            <a:r>
              <a:rPr lang="en-US" sz="1150" dirty="0">
                <a:solidFill>
                  <a:srgbClr val="5A6484"/>
                </a:solidFill>
                <a:latin typeface="Calibri" pitchFamily="34" charset="0"/>
                <a:ea typeface="Calibri" pitchFamily="34" charset="-122"/>
                <a:cs typeface="Calibri" pitchFamily="34" charset="-120"/>
              </a:rPr>
              <a:t>Lima peran dengan 103 izin akses, dikelola langsung dari antarmuka tanpa mengubah kode</a:t>
            </a:r>
            <a:endParaRPr lang="en-US" sz="1150" dirty="0"/>
          </a:p>
        </p:txBody>
      </p:sp>
      <p:sp>
        <p:nvSpPr>
          <p:cNvPr id="5" name="Shape 3"/>
          <p:cNvSpPr/>
          <p:nvPr/>
        </p:nvSpPr>
        <p:spPr>
          <a:xfrm>
            <a:off x="502920" y="1298448"/>
            <a:ext cx="4892040" cy="3167253"/>
          </a:xfrm>
          <a:prstGeom prst="roundRect">
            <a:avLst>
              <a:gd name="adj" fmla="val 2887"/>
            </a:avLst>
          </a:prstGeom>
          <a:solidFill>
            <a:srgbClr val="FFFFFF"/>
          </a:solidFill>
          <a:ln/>
          <a:effectLst>
            <a:outerShdw sx="100000" sy="100000" kx="0" ky="0" algn="bl" rotWithShape="0" blurRad="127000" dist="25400" dir="5400000">
              <a:srgbClr val="8894B0">
                <a:alpha val="28000"/>
              </a:srgbClr>
            </a:outerShdw>
          </a:effectLst>
        </p:spPr>
      </p:sp>
      <p:pic>
        <p:nvPicPr>
          <p:cNvPr id="6" name="Image 0" descr="D:\First Project\handayani\document\aset-laporan\screenshot\06-rbac.png">    </p:cNvPr>
          <p:cNvPicPr>
            <a:picLocks noChangeAspect="1"/>
          </p:cNvPicPr>
          <p:nvPr/>
        </p:nvPicPr>
        <p:blipFill>
          <a:blip r:embed="rId1"/>
          <a:stretch>
            <a:fillRect/>
          </a:stretch>
        </p:blipFill>
        <p:spPr>
          <a:xfrm>
            <a:off x="557784" y="1353312"/>
            <a:ext cx="4782312" cy="3057525"/>
          </a:xfrm>
          <a:prstGeom prst="rect">
            <a:avLst/>
          </a:prstGeom>
        </p:spPr>
      </p:pic>
      <p:sp>
        <p:nvSpPr>
          <p:cNvPr id="7" name="Shape 4"/>
          <p:cNvSpPr/>
          <p:nvPr/>
        </p:nvSpPr>
        <p:spPr>
          <a:xfrm>
            <a:off x="5669280" y="1426464"/>
            <a:ext cx="310896" cy="310896"/>
          </a:xfrm>
          <a:prstGeom prst="ellipse">
            <a:avLst/>
          </a:prstGeom>
          <a:solidFill>
            <a:srgbClr val="1E2761"/>
          </a:solidFill>
          <a:ln/>
        </p:spPr>
      </p:sp>
      <p:sp>
        <p:nvSpPr>
          <p:cNvPr id="8" name="Text 5"/>
          <p:cNvSpPr/>
          <p:nvPr/>
        </p:nvSpPr>
        <p:spPr>
          <a:xfrm>
            <a:off x="5669280" y="1426464"/>
            <a:ext cx="310896" cy="310896"/>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1</a:t>
            </a:r>
            <a:endParaRPr lang="en-US" sz="1450" dirty="0"/>
          </a:p>
        </p:txBody>
      </p:sp>
      <p:sp>
        <p:nvSpPr>
          <p:cNvPr id="9" name="Text 6"/>
          <p:cNvSpPr/>
          <p:nvPr/>
        </p:nvSpPr>
        <p:spPr>
          <a:xfrm>
            <a:off x="6108192" y="1408176"/>
            <a:ext cx="2560320" cy="274320"/>
          </a:xfrm>
          <a:prstGeom prst="rect">
            <a:avLst/>
          </a:prstGeom>
          <a:noFill/>
          <a:ln/>
        </p:spPr>
        <p:txBody>
          <a:bodyPr wrap="square" lIns="0" tIns="0" rIns="0" bIns="0"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Peran dan izin</a:t>
            </a:r>
            <a:endParaRPr lang="en-US" sz="1300" dirty="0"/>
          </a:p>
        </p:txBody>
      </p:sp>
      <p:sp>
        <p:nvSpPr>
          <p:cNvPr id="10" name="Text 7"/>
          <p:cNvSpPr/>
          <p:nvPr/>
        </p:nvSpPr>
        <p:spPr>
          <a:xfrm>
            <a:off x="5669280" y="1719072"/>
            <a:ext cx="2999232" cy="457200"/>
          </a:xfrm>
          <a:prstGeom prst="rect">
            <a:avLst/>
          </a:prstGeom>
          <a:noFill/>
          <a:ln/>
        </p:spPr>
        <p:txBody>
          <a:bodyPr wrap="square" lIns="0" tIns="0" rIns="0" bIns="0" rtlCol="0" anchor="t"/>
          <a:lstStyle/>
          <a:p>
            <a:pPr indent="0" marL="0">
              <a:lnSpc>
                <a:spcPts val="1350"/>
              </a:lnSpc>
              <a:buNone/>
            </a:pPr>
            <a:r>
              <a:rPr lang="en-US" sz="1050" dirty="0">
                <a:solidFill>
                  <a:srgbClr val="5A6484"/>
                </a:solidFill>
                <a:latin typeface="Calibri" pitchFamily="34" charset="0"/>
                <a:ea typeface="Calibri" pitchFamily="34" charset="-122"/>
                <a:cs typeface="Calibri" pitchFamily="34" charset="-120"/>
              </a:rPr>
              <a:t>Lima peran, 103 izin akses yang dapat dicentang per peran.</a:t>
            </a:r>
            <a:endParaRPr lang="en-US" sz="1050" dirty="0"/>
          </a:p>
        </p:txBody>
      </p:sp>
      <p:sp>
        <p:nvSpPr>
          <p:cNvPr id="11" name="Shape 8"/>
          <p:cNvSpPr/>
          <p:nvPr/>
        </p:nvSpPr>
        <p:spPr>
          <a:xfrm>
            <a:off x="5669280" y="2212848"/>
            <a:ext cx="310896" cy="310896"/>
          </a:xfrm>
          <a:prstGeom prst="ellipse">
            <a:avLst/>
          </a:prstGeom>
          <a:solidFill>
            <a:srgbClr val="1E2761"/>
          </a:solidFill>
          <a:ln/>
        </p:spPr>
      </p:sp>
      <p:sp>
        <p:nvSpPr>
          <p:cNvPr id="12" name="Text 9"/>
          <p:cNvSpPr/>
          <p:nvPr/>
        </p:nvSpPr>
        <p:spPr>
          <a:xfrm>
            <a:off x="5669280" y="2212848"/>
            <a:ext cx="310896" cy="310896"/>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2</a:t>
            </a:r>
            <a:endParaRPr lang="en-US" sz="1450" dirty="0"/>
          </a:p>
        </p:txBody>
      </p:sp>
      <p:sp>
        <p:nvSpPr>
          <p:cNvPr id="13" name="Text 10"/>
          <p:cNvSpPr/>
          <p:nvPr/>
        </p:nvSpPr>
        <p:spPr>
          <a:xfrm>
            <a:off x="6108192" y="2194560"/>
            <a:ext cx="2560320" cy="274320"/>
          </a:xfrm>
          <a:prstGeom prst="rect">
            <a:avLst/>
          </a:prstGeom>
          <a:noFill/>
          <a:ln/>
        </p:spPr>
        <p:txBody>
          <a:bodyPr wrap="square" lIns="0" tIns="0" rIns="0" bIns="0"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Pemetaan halaman</a:t>
            </a:r>
            <a:endParaRPr lang="en-US" sz="1300" dirty="0"/>
          </a:p>
        </p:txBody>
      </p:sp>
      <p:sp>
        <p:nvSpPr>
          <p:cNvPr id="14" name="Text 11"/>
          <p:cNvSpPr/>
          <p:nvPr/>
        </p:nvSpPr>
        <p:spPr>
          <a:xfrm>
            <a:off x="5669280" y="2505456"/>
            <a:ext cx="2999232" cy="457200"/>
          </a:xfrm>
          <a:prstGeom prst="rect">
            <a:avLst/>
          </a:prstGeom>
          <a:noFill/>
          <a:ln/>
        </p:spPr>
        <p:txBody>
          <a:bodyPr wrap="square" lIns="0" tIns="0" rIns="0" bIns="0" rtlCol="0" anchor="t"/>
          <a:lstStyle/>
          <a:p>
            <a:pPr indent="0" marL="0">
              <a:lnSpc>
                <a:spcPts val="1350"/>
              </a:lnSpc>
              <a:buNone/>
            </a:pPr>
            <a:r>
              <a:rPr lang="en-US" sz="1050" dirty="0">
                <a:solidFill>
                  <a:srgbClr val="5A6484"/>
                </a:solidFill>
                <a:latin typeface="Calibri" pitchFamily="34" charset="0"/>
                <a:ea typeface="Calibri" pitchFamily="34" charset="-122"/>
                <a:cs typeface="Calibri" pitchFamily="34" charset="-120"/>
              </a:rPr>
              <a:t>Setiap halaman dan endpoint dipetakan ke izin di basis data.</a:t>
            </a:r>
            <a:endParaRPr lang="en-US" sz="1050" dirty="0"/>
          </a:p>
        </p:txBody>
      </p:sp>
      <p:sp>
        <p:nvSpPr>
          <p:cNvPr id="15" name="Shape 12"/>
          <p:cNvSpPr/>
          <p:nvPr/>
        </p:nvSpPr>
        <p:spPr>
          <a:xfrm>
            <a:off x="5669280" y="2999232"/>
            <a:ext cx="310896" cy="310896"/>
          </a:xfrm>
          <a:prstGeom prst="ellipse">
            <a:avLst/>
          </a:prstGeom>
          <a:solidFill>
            <a:srgbClr val="1E2761"/>
          </a:solidFill>
          <a:ln/>
        </p:spPr>
      </p:sp>
      <p:sp>
        <p:nvSpPr>
          <p:cNvPr id="16" name="Text 13"/>
          <p:cNvSpPr/>
          <p:nvPr/>
        </p:nvSpPr>
        <p:spPr>
          <a:xfrm>
            <a:off x="5669280" y="2999232"/>
            <a:ext cx="310896" cy="310896"/>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3</a:t>
            </a:r>
            <a:endParaRPr lang="en-US" sz="1450" dirty="0"/>
          </a:p>
        </p:txBody>
      </p:sp>
      <p:sp>
        <p:nvSpPr>
          <p:cNvPr id="17" name="Text 14"/>
          <p:cNvSpPr/>
          <p:nvPr/>
        </p:nvSpPr>
        <p:spPr>
          <a:xfrm>
            <a:off x="6108192" y="2980944"/>
            <a:ext cx="2560320" cy="274320"/>
          </a:xfrm>
          <a:prstGeom prst="rect">
            <a:avLst/>
          </a:prstGeom>
          <a:noFill/>
          <a:ln/>
        </p:spPr>
        <p:txBody>
          <a:bodyPr wrap="square" lIns="0" tIns="0" rIns="0" bIns="0"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Diperiksa di server</a:t>
            </a:r>
            <a:endParaRPr lang="en-US" sz="1300" dirty="0"/>
          </a:p>
        </p:txBody>
      </p:sp>
      <p:sp>
        <p:nvSpPr>
          <p:cNvPr id="18" name="Text 15"/>
          <p:cNvSpPr/>
          <p:nvPr/>
        </p:nvSpPr>
        <p:spPr>
          <a:xfrm>
            <a:off x="5669280" y="3291840"/>
            <a:ext cx="2999232" cy="457200"/>
          </a:xfrm>
          <a:prstGeom prst="rect">
            <a:avLst/>
          </a:prstGeom>
          <a:noFill/>
          <a:ln/>
        </p:spPr>
        <p:txBody>
          <a:bodyPr wrap="square" lIns="0" tIns="0" rIns="0" bIns="0" rtlCol="0" anchor="t"/>
          <a:lstStyle/>
          <a:p>
            <a:pPr indent="0" marL="0">
              <a:lnSpc>
                <a:spcPts val="1350"/>
              </a:lnSpc>
              <a:buNone/>
            </a:pPr>
            <a:r>
              <a:rPr lang="en-US" sz="1050" dirty="0">
                <a:solidFill>
                  <a:srgbClr val="5A6484"/>
                </a:solidFill>
                <a:latin typeface="Calibri" pitchFamily="34" charset="0"/>
                <a:ea typeface="Calibri" pitchFamily="34" charset="-122"/>
                <a:cs typeface="Calibri" pitchFamily="34" charset="-120"/>
              </a:rPr>
              <a:t>Pemeriksaan izin berjalan pada setiap permintaan, bukan hanya di antarmuka.</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21208" y="274320"/>
            <a:ext cx="3657600" cy="219456"/>
          </a:xfrm>
          <a:prstGeom prst="rect">
            <a:avLst/>
          </a:prstGeom>
          <a:noFill/>
          <a:ln/>
        </p:spPr>
        <p:txBody>
          <a:bodyPr wrap="square" lIns="0" tIns="0" rIns="0" bIns="0" rtlCol="0" anchor="ctr"/>
          <a:lstStyle/>
          <a:p>
            <a:pPr indent="0" marL="0">
              <a:buNone/>
            </a:pPr>
            <a:r>
              <a:rPr lang="en-US" sz="950" b="1" spc="200" kern="0" dirty="0">
                <a:solidFill>
                  <a:srgbClr val="C8A951"/>
                </a:solidFill>
                <a:latin typeface="Calibri" pitchFamily="34" charset="0"/>
                <a:ea typeface="Calibri" pitchFamily="34" charset="-122"/>
                <a:cs typeface="Calibri" pitchFamily="34" charset="-120"/>
              </a:rPr>
              <a:t>DEMO PROGRAM  02</a:t>
            </a:r>
            <a:endParaRPr lang="en-US" sz="950" dirty="0"/>
          </a:p>
        </p:txBody>
      </p:sp>
      <p:sp>
        <p:nvSpPr>
          <p:cNvPr id="3" name="Text 1"/>
          <p:cNvSpPr/>
          <p:nvPr/>
        </p:nvSpPr>
        <p:spPr>
          <a:xfrm>
            <a:off x="502920" y="512064"/>
            <a:ext cx="8138160" cy="438912"/>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Alur Persetujuan Pengeluaran</a:t>
            </a:r>
            <a:endParaRPr lang="en-US" sz="2600" dirty="0"/>
          </a:p>
        </p:txBody>
      </p:sp>
      <p:sp>
        <p:nvSpPr>
          <p:cNvPr id="4" name="Text 2"/>
          <p:cNvSpPr/>
          <p:nvPr/>
        </p:nvSpPr>
        <p:spPr>
          <a:xfrm>
            <a:off x="521208" y="950976"/>
            <a:ext cx="8138160" cy="237744"/>
          </a:xfrm>
          <a:prstGeom prst="rect">
            <a:avLst/>
          </a:prstGeom>
          <a:noFill/>
          <a:ln/>
        </p:spPr>
        <p:txBody>
          <a:bodyPr wrap="square" lIns="0" tIns="0" rIns="0" bIns="0" rtlCol="0" anchor="ctr"/>
          <a:lstStyle/>
          <a:p>
            <a:pPr indent="0" marL="0">
              <a:buNone/>
            </a:pPr>
            <a:r>
              <a:rPr lang="en-US" sz="1150" dirty="0">
                <a:solidFill>
                  <a:srgbClr val="5A6484"/>
                </a:solidFill>
                <a:latin typeface="Calibri" pitchFamily="34" charset="0"/>
                <a:ea typeface="Calibri" pitchFamily="34" charset="-122"/>
                <a:cs typeface="Calibri" pitchFamily="34" charset="-120"/>
              </a:rPr>
              <a:t>Status bertahap dari pengajuan sampai pencairan, dengan persetujuan otomatis per cabang</a:t>
            </a:r>
            <a:endParaRPr lang="en-US" sz="1150" dirty="0"/>
          </a:p>
        </p:txBody>
      </p:sp>
      <p:sp>
        <p:nvSpPr>
          <p:cNvPr id="5" name="Shape 3"/>
          <p:cNvSpPr/>
          <p:nvPr/>
        </p:nvSpPr>
        <p:spPr>
          <a:xfrm>
            <a:off x="502920" y="1207008"/>
            <a:ext cx="4023360" cy="2624328"/>
          </a:xfrm>
          <a:prstGeom prst="roundRect">
            <a:avLst>
              <a:gd name="adj" fmla="val 3484"/>
            </a:avLst>
          </a:prstGeom>
          <a:solidFill>
            <a:srgbClr val="FFFFFF"/>
          </a:solidFill>
          <a:ln/>
          <a:effectLst>
            <a:outerShdw sx="100000" sy="100000" kx="0" ky="0" algn="bl" rotWithShape="0" blurRad="127000" dist="25400" dir="5400000">
              <a:srgbClr val="8894B0">
                <a:alpha val="28000"/>
              </a:srgbClr>
            </a:outerShdw>
          </a:effectLst>
        </p:spPr>
      </p:sp>
      <p:pic>
        <p:nvPicPr>
          <p:cNvPr id="6" name="Image 0" descr="D:\First Project\handayani\document\aset-laporan\screenshot\16-pengeluaran.png">    </p:cNvPr>
          <p:cNvPicPr>
            <a:picLocks noChangeAspect="1"/>
          </p:cNvPicPr>
          <p:nvPr/>
        </p:nvPicPr>
        <p:blipFill>
          <a:blip r:embed="rId1"/>
          <a:stretch>
            <a:fillRect/>
          </a:stretch>
        </p:blipFill>
        <p:spPr>
          <a:xfrm>
            <a:off x="557784" y="1261872"/>
            <a:ext cx="3913632" cy="2514600"/>
          </a:xfrm>
          <a:prstGeom prst="rect">
            <a:avLst/>
          </a:prstGeom>
        </p:spPr>
      </p:pic>
      <p:sp>
        <p:nvSpPr>
          <p:cNvPr id="7" name="Text 4"/>
          <p:cNvSpPr/>
          <p:nvPr/>
        </p:nvSpPr>
        <p:spPr>
          <a:xfrm>
            <a:off x="502920" y="3904488"/>
            <a:ext cx="4023360" cy="237744"/>
          </a:xfrm>
          <a:prstGeom prst="rect">
            <a:avLst/>
          </a:prstGeom>
          <a:noFill/>
          <a:ln/>
        </p:spPr>
        <p:txBody>
          <a:bodyPr wrap="square" lIns="0" tIns="0" rIns="0" bIns="0" rtlCol="0" anchor="ctr"/>
          <a:lstStyle/>
          <a:p>
            <a:pPr algn="ctr" indent="0" marL="0">
              <a:buNone/>
            </a:pPr>
            <a:r>
              <a:rPr lang="en-US" sz="1050" i="1" dirty="0">
                <a:solidFill>
                  <a:srgbClr val="5A6484"/>
                </a:solidFill>
                <a:latin typeface="Calibri" pitchFamily="34" charset="0"/>
                <a:ea typeface="Calibri" pitchFamily="34" charset="-122"/>
                <a:cs typeface="Calibri" pitchFamily="34" charset="-120"/>
              </a:rPr>
              <a:t>Daftar pengajuan pengeluaran beserta statusnya</a:t>
            </a:r>
            <a:endParaRPr lang="en-US" sz="1050" dirty="0"/>
          </a:p>
        </p:txBody>
      </p:sp>
      <p:sp>
        <p:nvSpPr>
          <p:cNvPr id="8" name="Shape 5"/>
          <p:cNvSpPr/>
          <p:nvPr/>
        </p:nvSpPr>
        <p:spPr>
          <a:xfrm>
            <a:off x="4617720" y="1207008"/>
            <a:ext cx="4023360" cy="2624328"/>
          </a:xfrm>
          <a:prstGeom prst="roundRect">
            <a:avLst>
              <a:gd name="adj" fmla="val 3484"/>
            </a:avLst>
          </a:prstGeom>
          <a:solidFill>
            <a:srgbClr val="FFFFFF"/>
          </a:solidFill>
          <a:ln/>
          <a:effectLst>
            <a:outerShdw sx="100000" sy="100000" kx="0" ky="0" algn="bl" rotWithShape="0" blurRad="127000" dist="25400" dir="5400000">
              <a:srgbClr val="8894B0">
                <a:alpha val="28000"/>
              </a:srgbClr>
            </a:outerShdw>
          </a:effectLst>
        </p:spPr>
      </p:sp>
      <p:pic>
        <p:nvPicPr>
          <p:cNvPr id="9" name="Image 1" descr="D:\First Project\handayani\document\aset-laporan\screenshot\17-pengaturan-approval.png">    </p:cNvPr>
          <p:cNvPicPr>
            <a:picLocks noChangeAspect="1"/>
          </p:cNvPicPr>
          <p:nvPr/>
        </p:nvPicPr>
        <p:blipFill>
          <a:blip r:embed="rId2"/>
          <a:stretch>
            <a:fillRect/>
          </a:stretch>
        </p:blipFill>
        <p:spPr>
          <a:xfrm>
            <a:off x="4672584" y="1261872"/>
            <a:ext cx="3913632" cy="2514600"/>
          </a:xfrm>
          <a:prstGeom prst="rect">
            <a:avLst/>
          </a:prstGeom>
        </p:spPr>
      </p:pic>
      <p:sp>
        <p:nvSpPr>
          <p:cNvPr id="10" name="Text 6"/>
          <p:cNvSpPr/>
          <p:nvPr/>
        </p:nvSpPr>
        <p:spPr>
          <a:xfrm>
            <a:off x="4617720" y="3904488"/>
            <a:ext cx="4023360" cy="237744"/>
          </a:xfrm>
          <a:prstGeom prst="rect">
            <a:avLst/>
          </a:prstGeom>
          <a:noFill/>
          <a:ln/>
        </p:spPr>
        <p:txBody>
          <a:bodyPr wrap="square" lIns="0" tIns="0" rIns="0" bIns="0" rtlCol="0" anchor="ctr"/>
          <a:lstStyle/>
          <a:p>
            <a:pPr algn="ctr" indent="0" marL="0">
              <a:buNone/>
            </a:pPr>
            <a:r>
              <a:rPr lang="en-US" sz="1050" i="1" dirty="0">
                <a:solidFill>
                  <a:srgbClr val="5A6484"/>
                </a:solidFill>
                <a:latin typeface="Calibri" pitchFamily="34" charset="0"/>
                <a:ea typeface="Calibri" pitchFamily="34" charset="-122"/>
                <a:cs typeface="Calibri" pitchFamily="34" charset="-120"/>
              </a:rPr>
              <a:t>Pengaturan ambang persetujuan otomatis per cabang</a:t>
            </a:r>
            <a:endParaRPr lang="en-US" sz="1050" dirty="0"/>
          </a:p>
        </p:txBody>
      </p:sp>
      <p:sp>
        <p:nvSpPr>
          <p:cNvPr id="11" name="Shape 7"/>
          <p:cNvSpPr/>
          <p:nvPr/>
        </p:nvSpPr>
        <p:spPr>
          <a:xfrm>
            <a:off x="502920" y="4261104"/>
            <a:ext cx="8138160" cy="457200"/>
          </a:xfrm>
          <a:prstGeom prst="roundRect">
            <a:avLst>
              <a:gd name="adj" fmla="val 16000"/>
            </a:avLst>
          </a:prstGeom>
          <a:solidFill>
            <a:srgbClr val="1E2761"/>
          </a:solidFill>
          <a:ln/>
        </p:spPr>
      </p:sp>
      <p:sp>
        <p:nvSpPr>
          <p:cNvPr id="12" name="Text 8"/>
          <p:cNvSpPr/>
          <p:nvPr/>
        </p:nvSpPr>
        <p:spPr>
          <a:xfrm>
            <a:off x="685800" y="4261104"/>
            <a:ext cx="7772400" cy="45720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Pengeluaran berstatus belum disetujui tidak dihitung dalam laporan keuangan sampai statusnya diubah oleh pengguna yang berwenang.</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21208" y="274320"/>
            <a:ext cx="3657600" cy="219456"/>
          </a:xfrm>
          <a:prstGeom prst="rect">
            <a:avLst/>
          </a:prstGeom>
          <a:noFill/>
          <a:ln/>
        </p:spPr>
        <p:txBody>
          <a:bodyPr wrap="square" lIns="0" tIns="0" rIns="0" bIns="0" rtlCol="0" anchor="ctr"/>
          <a:lstStyle/>
          <a:p>
            <a:pPr indent="0" marL="0">
              <a:buNone/>
            </a:pPr>
            <a:r>
              <a:rPr lang="en-US" sz="950" b="1" spc="200" kern="0" dirty="0">
                <a:solidFill>
                  <a:srgbClr val="C8A951"/>
                </a:solidFill>
                <a:latin typeface="Calibri" pitchFamily="34" charset="0"/>
                <a:ea typeface="Calibri" pitchFamily="34" charset="-122"/>
                <a:cs typeface="Calibri" pitchFamily="34" charset="-120"/>
              </a:rPr>
              <a:t>DEMO PROGRAM  03</a:t>
            </a:r>
            <a:endParaRPr lang="en-US" sz="950" dirty="0"/>
          </a:p>
        </p:txBody>
      </p:sp>
      <p:sp>
        <p:nvSpPr>
          <p:cNvPr id="3" name="Text 1"/>
          <p:cNvSpPr/>
          <p:nvPr/>
        </p:nvSpPr>
        <p:spPr>
          <a:xfrm>
            <a:off x="502920" y="512064"/>
            <a:ext cx="8138160" cy="438912"/>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Pembayaran Daring Midtrans</a:t>
            </a:r>
            <a:endParaRPr lang="en-US" sz="2600" dirty="0"/>
          </a:p>
        </p:txBody>
      </p:sp>
      <p:sp>
        <p:nvSpPr>
          <p:cNvPr id="4" name="Text 2"/>
          <p:cNvSpPr/>
          <p:nvPr/>
        </p:nvSpPr>
        <p:spPr>
          <a:xfrm>
            <a:off x="521208" y="950976"/>
            <a:ext cx="8138160" cy="237744"/>
          </a:xfrm>
          <a:prstGeom prst="rect">
            <a:avLst/>
          </a:prstGeom>
          <a:noFill/>
          <a:ln/>
        </p:spPr>
        <p:txBody>
          <a:bodyPr wrap="square" lIns="0" tIns="0" rIns="0" bIns="0" rtlCol="0" anchor="ctr"/>
          <a:lstStyle/>
          <a:p>
            <a:pPr indent="0" marL="0">
              <a:buNone/>
            </a:pPr>
            <a:r>
              <a:rPr lang="en-US" sz="1150" dirty="0">
                <a:solidFill>
                  <a:srgbClr val="5A6484"/>
                </a:solidFill>
                <a:latin typeface="Calibri" pitchFamily="34" charset="0"/>
                <a:ea typeface="Calibri" pitchFamily="34" charset="-122"/>
                <a:cs typeface="Calibri" pitchFamily="34" charset="-120"/>
              </a:rPr>
              <a:t>Snap dengan beberapa kanal, pelunasan banyak tagihan sekaligus, status diperbarui via webhook</a:t>
            </a:r>
            <a:endParaRPr lang="en-US" sz="1150" dirty="0"/>
          </a:p>
        </p:txBody>
      </p:sp>
      <p:sp>
        <p:nvSpPr>
          <p:cNvPr id="5" name="Shape 3"/>
          <p:cNvSpPr/>
          <p:nvPr/>
        </p:nvSpPr>
        <p:spPr>
          <a:xfrm>
            <a:off x="502920" y="1207008"/>
            <a:ext cx="4023360" cy="2624328"/>
          </a:xfrm>
          <a:prstGeom prst="roundRect">
            <a:avLst>
              <a:gd name="adj" fmla="val 3484"/>
            </a:avLst>
          </a:prstGeom>
          <a:solidFill>
            <a:srgbClr val="FFFFFF"/>
          </a:solidFill>
          <a:ln/>
          <a:effectLst>
            <a:outerShdw sx="100000" sy="100000" kx="0" ky="0" algn="bl" rotWithShape="0" blurRad="127000" dist="25400" dir="5400000">
              <a:srgbClr val="8894B0">
                <a:alpha val="28000"/>
              </a:srgbClr>
            </a:outerShdw>
          </a:effectLst>
        </p:spPr>
      </p:sp>
      <p:pic>
        <p:nvPicPr>
          <p:cNvPr id="6" name="Image 0" descr="D:\First Project\handayani\document\aset-laporan\screenshot\30-snap-midtrans.png">    </p:cNvPr>
          <p:cNvPicPr>
            <a:picLocks noChangeAspect="1"/>
          </p:cNvPicPr>
          <p:nvPr/>
        </p:nvPicPr>
        <p:blipFill>
          <a:blip r:embed="rId1"/>
          <a:stretch>
            <a:fillRect/>
          </a:stretch>
        </p:blipFill>
        <p:spPr>
          <a:xfrm>
            <a:off x="557784" y="1261872"/>
            <a:ext cx="3913632" cy="2514600"/>
          </a:xfrm>
          <a:prstGeom prst="rect">
            <a:avLst/>
          </a:prstGeom>
        </p:spPr>
      </p:pic>
      <p:sp>
        <p:nvSpPr>
          <p:cNvPr id="7" name="Text 4"/>
          <p:cNvSpPr/>
          <p:nvPr/>
        </p:nvSpPr>
        <p:spPr>
          <a:xfrm>
            <a:off x="502920" y="3904488"/>
            <a:ext cx="4023360" cy="237744"/>
          </a:xfrm>
          <a:prstGeom prst="rect">
            <a:avLst/>
          </a:prstGeom>
          <a:noFill/>
          <a:ln/>
        </p:spPr>
        <p:txBody>
          <a:bodyPr wrap="square" lIns="0" tIns="0" rIns="0" bIns="0" rtlCol="0" anchor="ctr"/>
          <a:lstStyle/>
          <a:p>
            <a:pPr algn="ctr" indent="0" marL="0">
              <a:buNone/>
            </a:pPr>
            <a:r>
              <a:rPr lang="en-US" sz="1050" i="1" dirty="0">
                <a:solidFill>
                  <a:srgbClr val="5A6484"/>
                </a:solidFill>
                <a:latin typeface="Calibri" pitchFamily="34" charset="0"/>
                <a:ea typeface="Calibri" pitchFamily="34" charset="-122"/>
                <a:cs typeface="Calibri" pitchFamily="34" charset="-120"/>
              </a:rPr>
              <a:t>Antarmuka Snap Midtrans dengan pilihan kanal pembayaran</a:t>
            </a:r>
            <a:endParaRPr lang="en-US" sz="1050" dirty="0"/>
          </a:p>
        </p:txBody>
      </p:sp>
      <p:sp>
        <p:nvSpPr>
          <p:cNvPr id="8" name="Shape 5"/>
          <p:cNvSpPr/>
          <p:nvPr/>
        </p:nvSpPr>
        <p:spPr>
          <a:xfrm>
            <a:off x="4617720" y="1207008"/>
            <a:ext cx="4023360" cy="2624328"/>
          </a:xfrm>
          <a:prstGeom prst="roundRect">
            <a:avLst>
              <a:gd name="adj" fmla="val 3484"/>
            </a:avLst>
          </a:prstGeom>
          <a:solidFill>
            <a:srgbClr val="FFFFFF"/>
          </a:solidFill>
          <a:ln/>
          <a:effectLst>
            <a:outerShdw sx="100000" sy="100000" kx="0" ky="0" algn="bl" rotWithShape="0" blurRad="127000" dist="25400" dir="5400000">
              <a:srgbClr val="8894B0">
                <a:alpha val="28000"/>
              </a:srgbClr>
            </a:outerShdw>
          </a:effectLst>
        </p:spPr>
      </p:sp>
      <p:pic>
        <p:nvPicPr>
          <p:cNvPr id="9" name="Image 1" descr="D:\First Project\handayani\document\aset-laporan\screenshot\32-portal-status-pembayaran.png">    </p:cNvPr>
          <p:cNvPicPr>
            <a:picLocks noChangeAspect="1"/>
          </p:cNvPicPr>
          <p:nvPr/>
        </p:nvPicPr>
        <p:blipFill>
          <a:blip r:embed="rId2"/>
          <a:stretch>
            <a:fillRect/>
          </a:stretch>
        </p:blipFill>
        <p:spPr>
          <a:xfrm>
            <a:off x="4672584" y="1261872"/>
            <a:ext cx="3913632" cy="2514600"/>
          </a:xfrm>
          <a:prstGeom prst="rect">
            <a:avLst/>
          </a:prstGeom>
        </p:spPr>
      </p:pic>
      <p:sp>
        <p:nvSpPr>
          <p:cNvPr id="10" name="Text 6"/>
          <p:cNvSpPr/>
          <p:nvPr/>
        </p:nvSpPr>
        <p:spPr>
          <a:xfrm>
            <a:off x="4617720" y="3904488"/>
            <a:ext cx="4023360" cy="237744"/>
          </a:xfrm>
          <a:prstGeom prst="rect">
            <a:avLst/>
          </a:prstGeom>
          <a:noFill/>
          <a:ln/>
        </p:spPr>
        <p:txBody>
          <a:bodyPr wrap="square" lIns="0" tIns="0" rIns="0" bIns="0" rtlCol="0" anchor="ctr"/>
          <a:lstStyle/>
          <a:p>
            <a:pPr algn="ctr" indent="0" marL="0">
              <a:buNone/>
            </a:pPr>
            <a:r>
              <a:rPr lang="en-US" sz="1050" i="1" dirty="0">
                <a:solidFill>
                  <a:srgbClr val="5A6484"/>
                </a:solidFill>
                <a:latin typeface="Calibri" pitchFamily="34" charset="0"/>
                <a:ea typeface="Calibri" pitchFamily="34" charset="-122"/>
                <a:cs typeface="Calibri" pitchFamily="34" charset="-120"/>
              </a:rPr>
              <a:t>Status pembayaran diperbarui otomatis di portal siswa</a:t>
            </a:r>
            <a:endParaRPr lang="en-US" sz="1050" dirty="0"/>
          </a:p>
        </p:txBody>
      </p:sp>
      <p:sp>
        <p:nvSpPr>
          <p:cNvPr id="11" name="Shape 7"/>
          <p:cNvSpPr/>
          <p:nvPr/>
        </p:nvSpPr>
        <p:spPr>
          <a:xfrm>
            <a:off x="502920" y="4261104"/>
            <a:ext cx="8138160" cy="457200"/>
          </a:xfrm>
          <a:prstGeom prst="roundRect">
            <a:avLst>
              <a:gd name="adj" fmla="val 16000"/>
            </a:avLst>
          </a:prstGeom>
          <a:solidFill>
            <a:srgbClr val="1E2761"/>
          </a:solidFill>
          <a:ln/>
        </p:spPr>
      </p:sp>
      <p:sp>
        <p:nvSpPr>
          <p:cNvPr id="12" name="Text 8"/>
          <p:cNvSpPr/>
          <p:nvPr/>
        </p:nvSpPr>
        <p:spPr>
          <a:xfrm>
            <a:off x="685800" y="4261104"/>
            <a:ext cx="7772400" cy="45720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Biaya administrasi dihitung sesuai kanal yang dipilih, dan kwitansi digital dikirim otomatis ke surel setelah pembayaran berhasil.</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21208" y="274320"/>
            <a:ext cx="3657600" cy="219456"/>
          </a:xfrm>
          <a:prstGeom prst="rect">
            <a:avLst/>
          </a:prstGeom>
          <a:noFill/>
          <a:ln/>
        </p:spPr>
        <p:txBody>
          <a:bodyPr wrap="square" lIns="0" tIns="0" rIns="0" bIns="0" rtlCol="0" anchor="ctr"/>
          <a:lstStyle/>
          <a:p>
            <a:pPr indent="0" marL="0">
              <a:buNone/>
            </a:pPr>
            <a:r>
              <a:rPr lang="en-US" sz="950" b="1" spc="200" kern="0" dirty="0">
                <a:solidFill>
                  <a:srgbClr val="C8A951"/>
                </a:solidFill>
                <a:latin typeface="Calibri" pitchFamily="34" charset="0"/>
                <a:ea typeface="Calibri" pitchFamily="34" charset="-122"/>
                <a:cs typeface="Calibri" pitchFamily="34" charset="-120"/>
              </a:rPr>
              <a:t>DEMO PROGRAM  04</a:t>
            </a:r>
            <a:endParaRPr lang="en-US" sz="950" dirty="0"/>
          </a:p>
        </p:txBody>
      </p:sp>
      <p:sp>
        <p:nvSpPr>
          <p:cNvPr id="3" name="Text 1"/>
          <p:cNvSpPr/>
          <p:nvPr/>
        </p:nvSpPr>
        <p:spPr>
          <a:xfrm>
            <a:off x="502920" y="512064"/>
            <a:ext cx="8138160" cy="438912"/>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Dashboard Monitoring Keuangan</a:t>
            </a:r>
            <a:endParaRPr lang="en-US" sz="2600" dirty="0"/>
          </a:p>
        </p:txBody>
      </p:sp>
      <p:sp>
        <p:nvSpPr>
          <p:cNvPr id="4" name="Text 2"/>
          <p:cNvSpPr/>
          <p:nvPr/>
        </p:nvSpPr>
        <p:spPr>
          <a:xfrm>
            <a:off x="521208" y="950976"/>
            <a:ext cx="8138160" cy="237744"/>
          </a:xfrm>
          <a:prstGeom prst="rect">
            <a:avLst/>
          </a:prstGeom>
          <a:noFill/>
          <a:ln/>
        </p:spPr>
        <p:txBody>
          <a:bodyPr wrap="square" lIns="0" tIns="0" rIns="0" bIns="0" rtlCol="0" anchor="ctr"/>
          <a:lstStyle/>
          <a:p>
            <a:pPr indent="0" marL="0">
              <a:buNone/>
            </a:pPr>
            <a:r>
              <a:rPr lang="en-US" sz="1150" dirty="0">
                <a:solidFill>
                  <a:srgbClr val="5A6484"/>
                </a:solidFill>
                <a:latin typeface="Calibri" pitchFamily="34" charset="0"/>
                <a:ea typeface="Calibri" pitchFamily="34" charset="-122"/>
                <a:cs typeface="Calibri" pitchFamily="34" charset="-120"/>
              </a:rPr>
              <a:t>Kartu ringkasan, grafik tren, dan daftar tunggakan dalam satu tampilan</a:t>
            </a:r>
            <a:endParaRPr lang="en-US" sz="1150" dirty="0"/>
          </a:p>
        </p:txBody>
      </p:sp>
      <p:sp>
        <p:nvSpPr>
          <p:cNvPr id="5" name="Shape 3"/>
          <p:cNvSpPr/>
          <p:nvPr/>
        </p:nvSpPr>
        <p:spPr>
          <a:xfrm>
            <a:off x="502920" y="1298448"/>
            <a:ext cx="4892040" cy="3167253"/>
          </a:xfrm>
          <a:prstGeom prst="roundRect">
            <a:avLst>
              <a:gd name="adj" fmla="val 2887"/>
            </a:avLst>
          </a:prstGeom>
          <a:solidFill>
            <a:srgbClr val="FFFFFF"/>
          </a:solidFill>
          <a:ln/>
          <a:effectLst>
            <a:outerShdw sx="100000" sy="100000" kx="0" ky="0" algn="bl" rotWithShape="0" blurRad="127000" dist="25400" dir="5400000">
              <a:srgbClr val="8894B0">
                <a:alpha val="28000"/>
              </a:srgbClr>
            </a:outerShdw>
          </a:effectLst>
        </p:spPr>
      </p:sp>
      <p:pic>
        <p:nvPicPr>
          <p:cNvPr id="6" name="Image 0" descr="D:\First Project\handayani\document\aset-laporan\screenshot\04-dashboard.png">    </p:cNvPr>
          <p:cNvPicPr>
            <a:picLocks noChangeAspect="1"/>
          </p:cNvPicPr>
          <p:nvPr/>
        </p:nvPicPr>
        <p:blipFill>
          <a:blip r:embed="rId1"/>
          <a:stretch>
            <a:fillRect/>
          </a:stretch>
        </p:blipFill>
        <p:spPr>
          <a:xfrm>
            <a:off x="557784" y="1353312"/>
            <a:ext cx="4782312" cy="3057525"/>
          </a:xfrm>
          <a:prstGeom prst="rect">
            <a:avLst/>
          </a:prstGeom>
        </p:spPr>
      </p:pic>
      <p:sp>
        <p:nvSpPr>
          <p:cNvPr id="7" name="Shape 4"/>
          <p:cNvSpPr/>
          <p:nvPr/>
        </p:nvSpPr>
        <p:spPr>
          <a:xfrm>
            <a:off x="5669280" y="1426464"/>
            <a:ext cx="310896" cy="310896"/>
          </a:xfrm>
          <a:prstGeom prst="ellipse">
            <a:avLst/>
          </a:prstGeom>
          <a:solidFill>
            <a:srgbClr val="1E2761"/>
          </a:solidFill>
          <a:ln/>
        </p:spPr>
      </p:sp>
      <p:sp>
        <p:nvSpPr>
          <p:cNvPr id="8" name="Text 5"/>
          <p:cNvSpPr/>
          <p:nvPr/>
        </p:nvSpPr>
        <p:spPr>
          <a:xfrm>
            <a:off x="5669280" y="1426464"/>
            <a:ext cx="310896" cy="310896"/>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1</a:t>
            </a:r>
            <a:endParaRPr lang="en-US" sz="1450" dirty="0"/>
          </a:p>
        </p:txBody>
      </p:sp>
      <p:sp>
        <p:nvSpPr>
          <p:cNvPr id="9" name="Text 6"/>
          <p:cNvSpPr/>
          <p:nvPr/>
        </p:nvSpPr>
        <p:spPr>
          <a:xfrm>
            <a:off x="6108192" y="1408176"/>
            <a:ext cx="2560320" cy="274320"/>
          </a:xfrm>
          <a:prstGeom prst="rect">
            <a:avLst/>
          </a:prstGeom>
          <a:noFill/>
          <a:ln/>
        </p:spPr>
        <p:txBody>
          <a:bodyPr wrap="square" lIns="0" tIns="0" rIns="0" bIns="0"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Kartu ringkasan</a:t>
            </a:r>
            <a:endParaRPr lang="en-US" sz="1300" dirty="0"/>
          </a:p>
        </p:txBody>
      </p:sp>
      <p:sp>
        <p:nvSpPr>
          <p:cNvPr id="10" name="Text 7"/>
          <p:cNvSpPr/>
          <p:nvPr/>
        </p:nvSpPr>
        <p:spPr>
          <a:xfrm>
            <a:off x="5669280" y="1719072"/>
            <a:ext cx="2999232" cy="457200"/>
          </a:xfrm>
          <a:prstGeom prst="rect">
            <a:avLst/>
          </a:prstGeom>
          <a:noFill/>
          <a:ln/>
        </p:spPr>
        <p:txBody>
          <a:bodyPr wrap="square" lIns="0" tIns="0" rIns="0" bIns="0" rtlCol="0" anchor="t"/>
          <a:lstStyle/>
          <a:p>
            <a:pPr indent="0" marL="0">
              <a:lnSpc>
                <a:spcPts val="1350"/>
              </a:lnSpc>
              <a:buNone/>
            </a:pPr>
            <a:r>
              <a:rPr lang="en-US" sz="1050" dirty="0">
                <a:solidFill>
                  <a:srgbClr val="5A6484"/>
                </a:solidFill>
                <a:latin typeface="Calibri" pitchFamily="34" charset="0"/>
                <a:ea typeface="Calibri" pitchFamily="34" charset="-122"/>
                <a:cs typeface="Calibri" pitchFamily="34" charset="-120"/>
              </a:rPr>
              <a:t>Pemasukan, pengeluaran, dan status pembayaran SPP.</a:t>
            </a:r>
            <a:endParaRPr lang="en-US" sz="1050" dirty="0"/>
          </a:p>
        </p:txBody>
      </p:sp>
      <p:sp>
        <p:nvSpPr>
          <p:cNvPr id="11" name="Shape 8"/>
          <p:cNvSpPr/>
          <p:nvPr/>
        </p:nvSpPr>
        <p:spPr>
          <a:xfrm>
            <a:off x="5669280" y="2212848"/>
            <a:ext cx="310896" cy="310896"/>
          </a:xfrm>
          <a:prstGeom prst="ellipse">
            <a:avLst/>
          </a:prstGeom>
          <a:solidFill>
            <a:srgbClr val="1E2761"/>
          </a:solidFill>
          <a:ln/>
        </p:spPr>
      </p:sp>
      <p:sp>
        <p:nvSpPr>
          <p:cNvPr id="12" name="Text 9"/>
          <p:cNvSpPr/>
          <p:nvPr/>
        </p:nvSpPr>
        <p:spPr>
          <a:xfrm>
            <a:off x="5669280" y="2212848"/>
            <a:ext cx="310896" cy="310896"/>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2</a:t>
            </a:r>
            <a:endParaRPr lang="en-US" sz="1450" dirty="0"/>
          </a:p>
        </p:txBody>
      </p:sp>
      <p:sp>
        <p:nvSpPr>
          <p:cNvPr id="13" name="Text 10"/>
          <p:cNvSpPr/>
          <p:nvPr/>
        </p:nvSpPr>
        <p:spPr>
          <a:xfrm>
            <a:off x="6108192" y="2194560"/>
            <a:ext cx="2560320" cy="274320"/>
          </a:xfrm>
          <a:prstGeom prst="rect">
            <a:avLst/>
          </a:prstGeom>
          <a:noFill/>
          <a:ln/>
        </p:spPr>
        <p:txBody>
          <a:bodyPr wrap="square" lIns="0" tIns="0" rIns="0" bIns="0"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Grafik tren</a:t>
            </a:r>
            <a:endParaRPr lang="en-US" sz="1300" dirty="0"/>
          </a:p>
        </p:txBody>
      </p:sp>
      <p:sp>
        <p:nvSpPr>
          <p:cNvPr id="14" name="Text 11"/>
          <p:cNvSpPr/>
          <p:nvPr/>
        </p:nvSpPr>
        <p:spPr>
          <a:xfrm>
            <a:off x="5669280" y="2505456"/>
            <a:ext cx="2999232" cy="457200"/>
          </a:xfrm>
          <a:prstGeom prst="rect">
            <a:avLst/>
          </a:prstGeom>
          <a:noFill/>
          <a:ln/>
        </p:spPr>
        <p:txBody>
          <a:bodyPr wrap="square" lIns="0" tIns="0" rIns="0" bIns="0" rtlCol="0" anchor="t"/>
          <a:lstStyle/>
          <a:p>
            <a:pPr indent="0" marL="0">
              <a:lnSpc>
                <a:spcPts val="1350"/>
              </a:lnSpc>
              <a:buNone/>
            </a:pPr>
            <a:r>
              <a:rPr lang="en-US" sz="1050" dirty="0">
                <a:solidFill>
                  <a:srgbClr val="5A6484"/>
                </a:solidFill>
                <a:latin typeface="Calibri" pitchFamily="34" charset="0"/>
                <a:ea typeface="Calibri" pitchFamily="34" charset="-122"/>
                <a:cs typeface="Calibri" pitchFamily="34" charset="-120"/>
              </a:rPr>
              <a:t>Empat jenis grafik untuk memantau pergerakan keuangan.</a:t>
            </a:r>
            <a:endParaRPr lang="en-US" sz="1050" dirty="0"/>
          </a:p>
        </p:txBody>
      </p:sp>
      <p:sp>
        <p:nvSpPr>
          <p:cNvPr id="15" name="Shape 12"/>
          <p:cNvSpPr/>
          <p:nvPr/>
        </p:nvSpPr>
        <p:spPr>
          <a:xfrm>
            <a:off x="5669280" y="2999232"/>
            <a:ext cx="310896" cy="310896"/>
          </a:xfrm>
          <a:prstGeom prst="ellipse">
            <a:avLst/>
          </a:prstGeom>
          <a:solidFill>
            <a:srgbClr val="1E2761"/>
          </a:solidFill>
          <a:ln/>
        </p:spPr>
      </p:sp>
      <p:sp>
        <p:nvSpPr>
          <p:cNvPr id="16" name="Text 13"/>
          <p:cNvSpPr/>
          <p:nvPr/>
        </p:nvSpPr>
        <p:spPr>
          <a:xfrm>
            <a:off x="5669280" y="2999232"/>
            <a:ext cx="310896" cy="310896"/>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3</a:t>
            </a:r>
            <a:endParaRPr lang="en-US" sz="1450" dirty="0"/>
          </a:p>
        </p:txBody>
      </p:sp>
      <p:sp>
        <p:nvSpPr>
          <p:cNvPr id="17" name="Text 14"/>
          <p:cNvSpPr/>
          <p:nvPr/>
        </p:nvSpPr>
        <p:spPr>
          <a:xfrm>
            <a:off x="6108192" y="2980944"/>
            <a:ext cx="2560320" cy="274320"/>
          </a:xfrm>
          <a:prstGeom prst="rect">
            <a:avLst/>
          </a:prstGeom>
          <a:noFill/>
          <a:ln/>
        </p:spPr>
        <p:txBody>
          <a:bodyPr wrap="square" lIns="0" tIns="0" rIns="0" bIns="0"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Daftar tunggakan</a:t>
            </a:r>
            <a:endParaRPr lang="en-US" sz="1300" dirty="0"/>
          </a:p>
        </p:txBody>
      </p:sp>
      <p:sp>
        <p:nvSpPr>
          <p:cNvPr id="18" name="Text 15"/>
          <p:cNvSpPr/>
          <p:nvPr/>
        </p:nvSpPr>
        <p:spPr>
          <a:xfrm>
            <a:off x="5669280" y="3291840"/>
            <a:ext cx="2999232" cy="457200"/>
          </a:xfrm>
          <a:prstGeom prst="rect">
            <a:avLst/>
          </a:prstGeom>
          <a:noFill/>
          <a:ln/>
        </p:spPr>
        <p:txBody>
          <a:bodyPr wrap="square" lIns="0" tIns="0" rIns="0" bIns="0" rtlCol="0" anchor="t"/>
          <a:lstStyle/>
          <a:p>
            <a:pPr indent="0" marL="0">
              <a:lnSpc>
                <a:spcPts val="1350"/>
              </a:lnSpc>
              <a:buNone/>
            </a:pPr>
            <a:r>
              <a:rPr lang="en-US" sz="1050" dirty="0">
                <a:solidFill>
                  <a:srgbClr val="5A6484"/>
                </a:solidFill>
                <a:latin typeface="Calibri" pitchFamily="34" charset="0"/>
                <a:ea typeface="Calibri" pitchFamily="34" charset="-122"/>
                <a:cs typeface="Calibri" pitchFamily="34" charset="-120"/>
              </a:rPr>
              <a:t>Siswa dengan tagihan belum lunas langsung terlihat.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21208" y="274320"/>
            <a:ext cx="3657600" cy="219456"/>
          </a:xfrm>
          <a:prstGeom prst="rect">
            <a:avLst/>
          </a:prstGeom>
          <a:noFill/>
          <a:ln/>
        </p:spPr>
        <p:txBody>
          <a:bodyPr wrap="square" lIns="0" tIns="0" rIns="0" bIns="0" rtlCol="0" anchor="ctr"/>
          <a:lstStyle/>
          <a:p>
            <a:pPr indent="0" marL="0">
              <a:buNone/>
            </a:pPr>
            <a:r>
              <a:rPr lang="en-US" sz="950" b="1" spc="200" kern="0" dirty="0">
                <a:solidFill>
                  <a:srgbClr val="C8A951"/>
                </a:solidFill>
                <a:latin typeface="Calibri" pitchFamily="34" charset="0"/>
                <a:ea typeface="Calibri" pitchFamily="34" charset="-122"/>
                <a:cs typeface="Calibri" pitchFamily="34" charset="-120"/>
              </a:rPr>
              <a:t>DEMO PROGRAM  05</a:t>
            </a:r>
            <a:endParaRPr lang="en-US" sz="950" dirty="0"/>
          </a:p>
        </p:txBody>
      </p:sp>
      <p:sp>
        <p:nvSpPr>
          <p:cNvPr id="3" name="Text 1"/>
          <p:cNvSpPr/>
          <p:nvPr/>
        </p:nvSpPr>
        <p:spPr>
          <a:xfrm>
            <a:off x="502920" y="512064"/>
            <a:ext cx="8138160" cy="438912"/>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Halaman Publik dan Portal Siswa</a:t>
            </a:r>
            <a:endParaRPr lang="en-US" sz="2600" dirty="0"/>
          </a:p>
        </p:txBody>
      </p:sp>
      <p:sp>
        <p:nvSpPr>
          <p:cNvPr id="4" name="Text 2"/>
          <p:cNvSpPr/>
          <p:nvPr/>
        </p:nvSpPr>
        <p:spPr>
          <a:xfrm>
            <a:off x="521208" y="950976"/>
            <a:ext cx="8138160" cy="237744"/>
          </a:xfrm>
          <a:prstGeom prst="rect">
            <a:avLst/>
          </a:prstGeom>
          <a:noFill/>
          <a:ln/>
        </p:spPr>
        <p:txBody>
          <a:bodyPr wrap="square" lIns="0" tIns="0" rIns="0" bIns="0" rtlCol="0" anchor="ctr"/>
          <a:lstStyle/>
          <a:p>
            <a:pPr indent="0" marL="0">
              <a:buNone/>
            </a:pPr>
            <a:r>
              <a:rPr lang="en-US" sz="1150" dirty="0">
                <a:solidFill>
                  <a:srgbClr val="5A6484"/>
                </a:solidFill>
                <a:latin typeface="Calibri" pitchFamily="34" charset="0"/>
                <a:ea typeface="Calibri" pitchFamily="34" charset="-122"/>
                <a:cs typeface="Calibri" pitchFamily="34" charset="-120"/>
              </a:rPr>
              <a:t>Wajah lembaga di internet sekaligus pintu masuk layanan pembayaran daring</a:t>
            </a:r>
            <a:endParaRPr lang="en-US" sz="1150" dirty="0"/>
          </a:p>
        </p:txBody>
      </p:sp>
      <p:sp>
        <p:nvSpPr>
          <p:cNvPr id="5" name="Shape 3"/>
          <p:cNvSpPr/>
          <p:nvPr/>
        </p:nvSpPr>
        <p:spPr>
          <a:xfrm>
            <a:off x="502920" y="1207008"/>
            <a:ext cx="4023360" cy="2624328"/>
          </a:xfrm>
          <a:prstGeom prst="roundRect">
            <a:avLst>
              <a:gd name="adj" fmla="val 3484"/>
            </a:avLst>
          </a:prstGeom>
          <a:solidFill>
            <a:srgbClr val="FFFFFF"/>
          </a:solidFill>
          <a:ln/>
          <a:effectLst>
            <a:outerShdw sx="100000" sy="100000" kx="0" ky="0" algn="bl" rotWithShape="0" blurRad="127000" dist="25400" dir="5400000">
              <a:srgbClr val="8894B0">
                <a:alpha val="28000"/>
              </a:srgbClr>
            </a:outerShdw>
          </a:effectLst>
        </p:spPr>
      </p:sp>
      <p:pic>
        <p:nvPicPr>
          <p:cNvPr id="6" name="Image 0" descr="D:\First Project\handayani\document\aset-laporan\screenshot\24-landing-hero.png">    </p:cNvPr>
          <p:cNvPicPr>
            <a:picLocks noChangeAspect="1"/>
          </p:cNvPicPr>
          <p:nvPr/>
        </p:nvPicPr>
        <p:blipFill>
          <a:blip r:embed="rId1"/>
          <a:stretch>
            <a:fillRect/>
          </a:stretch>
        </p:blipFill>
        <p:spPr>
          <a:xfrm>
            <a:off x="557784" y="1261872"/>
            <a:ext cx="3913632" cy="2514600"/>
          </a:xfrm>
          <a:prstGeom prst="rect">
            <a:avLst/>
          </a:prstGeom>
        </p:spPr>
      </p:pic>
      <p:sp>
        <p:nvSpPr>
          <p:cNvPr id="7" name="Text 4"/>
          <p:cNvSpPr/>
          <p:nvPr/>
        </p:nvSpPr>
        <p:spPr>
          <a:xfrm>
            <a:off x="502920" y="3904488"/>
            <a:ext cx="4023360" cy="237744"/>
          </a:xfrm>
          <a:prstGeom prst="rect">
            <a:avLst/>
          </a:prstGeom>
          <a:noFill/>
          <a:ln/>
        </p:spPr>
        <p:txBody>
          <a:bodyPr wrap="square" lIns="0" tIns="0" rIns="0" bIns="0" rtlCol="0" anchor="ctr"/>
          <a:lstStyle/>
          <a:p>
            <a:pPr algn="ctr" indent="0" marL="0">
              <a:buNone/>
            </a:pPr>
            <a:r>
              <a:rPr lang="en-US" sz="1050" i="1" dirty="0">
                <a:solidFill>
                  <a:srgbClr val="5A6484"/>
                </a:solidFill>
                <a:latin typeface="Calibri" pitchFamily="34" charset="0"/>
                <a:ea typeface="Calibri" pitchFamily="34" charset="-122"/>
                <a:cs typeface="Calibri" pitchFamily="34" charset="-120"/>
              </a:rPr>
              <a:t>Halaman informasi publik lembaga</a:t>
            </a:r>
            <a:endParaRPr lang="en-US" sz="1050" dirty="0"/>
          </a:p>
        </p:txBody>
      </p:sp>
      <p:sp>
        <p:nvSpPr>
          <p:cNvPr id="8" name="Shape 5"/>
          <p:cNvSpPr/>
          <p:nvPr/>
        </p:nvSpPr>
        <p:spPr>
          <a:xfrm>
            <a:off x="4617720" y="1207008"/>
            <a:ext cx="4023360" cy="2624328"/>
          </a:xfrm>
          <a:prstGeom prst="roundRect">
            <a:avLst>
              <a:gd name="adj" fmla="val 3484"/>
            </a:avLst>
          </a:prstGeom>
          <a:solidFill>
            <a:srgbClr val="FFFFFF"/>
          </a:solidFill>
          <a:ln/>
          <a:effectLst>
            <a:outerShdw sx="100000" sy="100000" kx="0" ky="0" algn="bl" rotWithShape="0" blurRad="127000" dist="25400" dir="5400000">
              <a:srgbClr val="8894B0">
                <a:alpha val="28000"/>
              </a:srgbClr>
            </a:outerShdw>
          </a:effectLst>
        </p:spPr>
      </p:sp>
      <p:pic>
        <p:nvPicPr>
          <p:cNvPr id="9" name="Image 1" descr="D:\First Project\handayani\document\aset-laporan\screenshot\27-portal-tagihan.png">    </p:cNvPr>
          <p:cNvPicPr>
            <a:picLocks noChangeAspect="1"/>
          </p:cNvPicPr>
          <p:nvPr/>
        </p:nvPicPr>
        <p:blipFill>
          <a:blip r:embed="rId2"/>
          <a:stretch>
            <a:fillRect/>
          </a:stretch>
        </p:blipFill>
        <p:spPr>
          <a:xfrm>
            <a:off x="4672584" y="1261872"/>
            <a:ext cx="3913632" cy="2514600"/>
          </a:xfrm>
          <a:prstGeom prst="rect">
            <a:avLst/>
          </a:prstGeom>
        </p:spPr>
      </p:pic>
      <p:sp>
        <p:nvSpPr>
          <p:cNvPr id="10" name="Text 6"/>
          <p:cNvSpPr/>
          <p:nvPr/>
        </p:nvSpPr>
        <p:spPr>
          <a:xfrm>
            <a:off x="4617720" y="3904488"/>
            <a:ext cx="4023360" cy="237744"/>
          </a:xfrm>
          <a:prstGeom prst="rect">
            <a:avLst/>
          </a:prstGeom>
          <a:noFill/>
          <a:ln/>
        </p:spPr>
        <p:txBody>
          <a:bodyPr wrap="square" lIns="0" tIns="0" rIns="0" bIns="0" rtlCol="0" anchor="ctr"/>
          <a:lstStyle/>
          <a:p>
            <a:pPr algn="ctr" indent="0" marL="0">
              <a:buNone/>
            </a:pPr>
            <a:r>
              <a:rPr lang="en-US" sz="1050" i="1" dirty="0">
                <a:solidFill>
                  <a:srgbClr val="5A6484"/>
                </a:solidFill>
                <a:latin typeface="Calibri" pitchFamily="34" charset="0"/>
                <a:ea typeface="Calibri" pitchFamily="34" charset="-122"/>
                <a:cs typeface="Calibri" pitchFamily="34" charset="-120"/>
              </a:rPr>
              <a:t>Portal siswa: daftar tagihan dan pembayaran</a:t>
            </a:r>
            <a:endParaRPr lang="en-US" sz="1050" dirty="0"/>
          </a:p>
        </p:txBody>
      </p:sp>
      <p:sp>
        <p:nvSpPr>
          <p:cNvPr id="11" name="Shape 7"/>
          <p:cNvSpPr/>
          <p:nvPr/>
        </p:nvSpPr>
        <p:spPr>
          <a:xfrm>
            <a:off x="502920" y="4261104"/>
            <a:ext cx="8138160" cy="457200"/>
          </a:xfrm>
          <a:prstGeom prst="roundRect">
            <a:avLst>
              <a:gd name="adj" fmla="val 16000"/>
            </a:avLst>
          </a:prstGeom>
          <a:solidFill>
            <a:srgbClr val="1E2761"/>
          </a:solidFill>
          <a:ln/>
        </p:spPr>
      </p:sp>
      <p:sp>
        <p:nvSpPr>
          <p:cNvPr id="12" name="Text 8"/>
          <p:cNvSpPr/>
          <p:nvPr/>
        </p:nvSpPr>
        <p:spPr>
          <a:xfrm>
            <a:off x="685800" y="4261104"/>
            <a:ext cx="7772400" cy="45720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Akun siswa dibuatkan oleh pengelola, dilengkapi verifikasi surel, pemulihan kata sandi, dan pengaturan preferensi notifikasi.</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02920" y="329184"/>
            <a:ext cx="8138160" cy="566928"/>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Hasil Pengujian</a:t>
            </a:r>
            <a:endParaRPr lang="en-US" sz="3000" dirty="0"/>
          </a:p>
        </p:txBody>
      </p:sp>
      <p:sp>
        <p:nvSpPr>
          <p:cNvPr id="3" name="Text 1"/>
          <p:cNvSpPr/>
          <p:nvPr/>
        </p:nvSpPr>
        <p:spPr>
          <a:xfrm>
            <a:off x="521208" y="886968"/>
            <a:ext cx="8138160" cy="274320"/>
          </a:xfrm>
          <a:prstGeom prst="rect">
            <a:avLst/>
          </a:prstGeom>
          <a:noFill/>
          <a:ln/>
        </p:spPr>
        <p:txBody>
          <a:bodyPr wrap="square" lIns="0" tIns="0" rIns="0" bIns="0" rtlCol="0" anchor="ctr"/>
          <a:lstStyle/>
          <a:p>
            <a:pPr algn="l" indent="0" marL="0">
              <a:buNone/>
            </a:pPr>
            <a:r>
              <a:rPr lang="en-US" sz="1250" dirty="0">
                <a:solidFill>
                  <a:srgbClr val="5A6484"/>
                </a:solidFill>
                <a:latin typeface="Calibri" pitchFamily="34" charset="0"/>
                <a:ea typeface="Calibri" pitchFamily="34" charset="-122"/>
                <a:cs typeface="Calibri" pitchFamily="34" charset="-120"/>
              </a:rPr>
              <a:t>Black Box Testing manual terhadap seluruh skenario, dilengkapi pengujian otomatis</a:t>
            </a:r>
            <a:endParaRPr lang="en-US" sz="1250" dirty="0"/>
          </a:p>
        </p:txBody>
      </p:sp>
      <p:sp>
        <p:nvSpPr>
          <p:cNvPr id="4" name="Shape 2"/>
          <p:cNvSpPr/>
          <p:nvPr/>
        </p:nvSpPr>
        <p:spPr>
          <a:xfrm>
            <a:off x="502920" y="1325880"/>
            <a:ext cx="2286000" cy="3200400"/>
          </a:xfrm>
          <a:prstGeom prst="roundRect">
            <a:avLst>
              <a:gd name="adj" fmla="val 4000"/>
            </a:avLst>
          </a:prstGeom>
          <a:solidFill>
            <a:srgbClr val="FFFFFF"/>
          </a:solidFill>
          <a:ln/>
          <a:effectLst>
            <a:outerShdw sx="100000" sy="100000" kx="0" ky="0" algn="bl" rotWithShape="0" blurRad="127000" dist="25400" dir="5400000">
              <a:srgbClr val="8894B0">
                <a:alpha val="28000"/>
              </a:srgbClr>
            </a:outerShdw>
          </a:effectLst>
        </p:spPr>
      </p:sp>
      <p:sp>
        <p:nvSpPr>
          <p:cNvPr id="5" name="Text 3"/>
          <p:cNvSpPr/>
          <p:nvPr/>
        </p:nvSpPr>
        <p:spPr>
          <a:xfrm>
            <a:off x="594360" y="1517904"/>
            <a:ext cx="2103120" cy="749808"/>
          </a:xfrm>
          <a:prstGeom prst="rect">
            <a:avLst/>
          </a:prstGeom>
          <a:noFill/>
          <a:ln/>
        </p:spPr>
        <p:txBody>
          <a:bodyPr wrap="square" lIns="0" tIns="0" rIns="0" bIns="0" rtlCol="0" anchor="ctr"/>
          <a:lstStyle/>
          <a:p>
            <a:pPr algn="ctr" indent="0" marL="0">
              <a:buNone/>
            </a:pPr>
            <a:r>
              <a:rPr lang="en-US" sz="4600" b="1" dirty="0">
                <a:solidFill>
                  <a:srgbClr val="1E2761"/>
                </a:solidFill>
                <a:latin typeface="Cambria" pitchFamily="34" charset="0"/>
                <a:ea typeface="Cambria" pitchFamily="34" charset="-122"/>
                <a:cs typeface="Cambria" pitchFamily="34" charset="-120"/>
              </a:rPr>
              <a:t>102</a:t>
            </a:r>
            <a:endParaRPr lang="en-US" sz="4600" dirty="0"/>
          </a:p>
        </p:txBody>
      </p:sp>
      <p:sp>
        <p:nvSpPr>
          <p:cNvPr id="6" name="Text 4"/>
          <p:cNvSpPr/>
          <p:nvPr/>
        </p:nvSpPr>
        <p:spPr>
          <a:xfrm>
            <a:off x="594360" y="2249424"/>
            <a:ext cx="2103120" cy="237744"/>
          </a:xfrm>
          <a:prstGeom prst="rect">
            <a:avLst/>
          </a:prstGeom>
          <a:noFill/>
          <a:ln/>
        </p:spPr>
        <p:txBody>
          <a:bodyPr wrap="square" lIns="0" tIns="0" rIns="0" bIns="0" rtlCol="0" anchor="ctr"/>
          <a:lstStyle/>
          <a:p>
            <a:pPr algn="ctr" indent="0" marL="0">
              <a:buNone/>
            </a:pPr>
            <a:r>
              <a:rPr lang="en-US" sz="1200" dirty="0">
                <a:solidFill>
                  <a:srgbClr val="5A6484"/>
                </a:solidFill>
                <a:latin typeface="Calibri" pitchFamily="34" charset="0"/>
                <a:ea typeface="Calibri" pitchFamily="34" charset="-122"/>
                <a:cs typeface="Calibri" pitchFamily="34" charset="-120"/>
              </a:rPr>
              <a:t>kasus uji</a:t>
            </a:r>
            <a:endParaRPr lang="en-US" sz="1200" dirty="0"/>
          </a:p>
        </p:txBody>
      </p:sp>
      <p:sp>
        <p:nvSpPr>
          <p:cNvPr id="7" name="Text 5"/>
          <p:cNvSpPr/>
          <p:nvPr/>
        </p:nvSpPr>
        <p:spPr>
          <a:xfrm>
            <a:off x="594360" y="2706624"/>
            <a:ext cx="2103120" cy="603504"/>
          </a:xfrm>
          <a:prstGeom prst="rect">
            <a:avLst/>
          </a:prstGeom>
          <a:noFill/>
          <a:ln/>
        </p:spPr>
        <p:txBody>
          <a:bodyPr wrap="square" lIns="0" tIns="0" rIns="0" bIns="0" rtlCol="0" anchor="ctr"/>
          <a:lstStyle/>
          <a:p>
            <a:pPr algn="ctr" indent="0" marL="0">
              <a:buNone/>
            </a:pPr>
            <a:r>
              <a:rPr lang="en-US" sz="3600" b="1" dirty="0">
                <a:solidFill>
                  <a:srgbClr val="C8A951"/>
                </a:solidFill>
                <a:latin typeface="Cambria" pitchFamily="34" charset="0"/>
                <a:ea typeface="Cambria" pitchFamily="34" charset="-122"/>
                <a:cs typeface="Cambria" pitchFamily="34" charset="-120"/>
              </a:rPr>
              <a:t>100%</a:t>
            </a:r>
            <a:endParaRPr lang="en-US" sz="3600" dirty="0"/>
          </a:p>
        </p:txBody>
      </p:sp>
      <p:sp>
        <p:nvSpPr>
          <p:cNvPr id="8" name="Text 6"/>
          <p:cNvSpPr/>
          <p:nvPr/>
        </p:nvSpPr>
        <p:spPr>
          <a:xfrm>
            <a:off x="594360" y="3291840"/>
            <a:ext cx="2103120" cy="237744"/>
          </a:xfrm>
          <a:prstGeom prst="rect">
            <a:avLst/>
          </a:prstGeom>
          <a:noFill/>
          <a:ln/>
        </p:spPr>
        <p:txBody>
          <a:bodyPr wrap="square" lIns="0" tIns="0" rIns="0" bIns="0" rtlCol="0" anchor="ctr"/>
          <a:lstStyle/>
          <a:p>
            <a:pPr algn="ctr" indent="0" marL="0">
              <a:buNone/>
            </a:pPr>
            <a:r>
              <a:rPr lang="en-US" sz="1200" dirty="0">
                <a:solidFill>
                  <a:srgbClr val="5A6484"/>
                </a:solidFill>
                <a:latin typeface="Calibri" pitchFamily="34" charset="0"/>
                <a:ea typeface="Calibri" pitchFamily="34" charset="-122"/>
                <a:cs typeface="Calibri" pitchFamily="34" charset="-120"/>
              </a:rPr>
              <a:t>berstatus PASS</a:t>
            </a:r>
            <a:endParaRPr lang="en-US" sz="1200" dirty="0"/>
          </a:p>
        </p:txBody>
      </p:sp>
      <p:sp>
        <p:nvSpPr>
          <p:cNvPr id="9" name="Text 7"/>
          <p:cNvSpPr/>
          <p:nvPr/>
        </p:nvSpPr>
        <p:spPr>
          <a:xfrm>
            <a:off x="594360" y="3675888"/>
            <a:ext cx="2103120" cy="640080"/>
          </a:xfrm>
          <a:prstGeom prst="rect">
            <a:avLst/>
          </a:prstGeom>
          <a:noFill/>
          <a:ln/>
        </p:spPr>
        <p:txBody>
          <a:bodyPr wrap="square" lIns="0" tIns="0" rIns="0" bIns="0" rtlCol="0" anchor="ctr"/>
          <a:lstStyle/>
          <a:p>
            <a:pPr algn="ctr" indent="0" marL="0">
              <a:lnSpc>
                <a:spcPts val="1500"/>
              </a:lnSpc>
              <a:buNone/>
            </a:pPr>
            <a:r>
              <a:rPr lang="en-US" sz="1150" i="1" dirty="0">
                <a:solidFill>
                  <a:srgbClr val="1B2138"/>
                </a:solidFill>
                <a:latin typeface="Calibri" pitchFamily="34" charset="0"/>
                <a:ea typeface="Calibri" pitchFamily="34" charset="-122"/>
                <a:cs typeface="Calibri" pitchFamily="34" charset="-120"/>
              </a:rPr>
              <a:t>Tanpa satu pun</a:t>
            </a:r>
            <a:endParaRPr lang="en-US" sz="1150" dirty="0"/>
          </a:p>
          <a:p>
            <a:pPr algn="ctr" indent="0" marL="0">
              <a:lnSpc>
                <a:spcPts val="1500"/>
              </a:lnSpc>
              <a:buNone/>
            </a:pPr>
            <a:r>
              <a:rPr lang="en-US" sz="1150" i="1" dirty="0">
                <a:solidFill>
                  <a:srgbClr val="1B2138"/>
                </a:solidFill>
                <a:latin typeface="Calibri" pitchFamily="34" charset="0"/>
                <a:ea typeface="Calibri" pitchFamily="34" charset="-122"/>
                <a:cs typeface="Calibri" pitchFamily="34" charset="-120"/>
              </a:rPr>
              <a:t>kasus gagal (FAIL)</a:t>
            </a:r>
            <a:endParaRPr lang="en-US" sz="1150" dirty="0"/>
          </a:p>
        </p:txBody>
      </p:sp>
      <p:sp>
        <p:nvSpPr>
          <p:cNvPr id="10" name="Shape 8"/>
          <p:cNvSpPr/>
          <p:nvPr/>
        </p:nvSpPr>
        <p:spPr>
          <a:xfrm>
            <a:off x="2907792" y="1325880"/>
            <a:ext cx="5733288" cy="3200400"/>
          </a:xfrm>
          <a:prstGeom prst="roundRect">
            <a:avLst>
              <a:gd name="adj" fmla="val 2857"/>
            </a:avLst>
          </a:prstGeom>
          <a:solidFill>
            <a:srgbClr val="FFFFFF"/>
          </a:solidFill>
          <a:ln/>
          <a:effectLst>
            <a:outerShdw sx="100000" sy="100000" kx="0" ky="0" algn="bl" rotWithShape="0" blurRad="127000" dist="25400" dir="5400000">
              <a:srgbClr val="8894B0">
                <a:alpha val="28000"/>
              </a:srgbClr>
            </a:outerShdw>
          </a:effectLst>
        </p:spPr>
      </p:sp>
      <p:graphicFrame>
        <p:nvGraphicFramePr>
          <p:cNvPr id="11" name="Chart 0" descr=""/>
          <p:cNvGraphicFramePr/>
          <p:nvPr/>
        </p:nvGraphicFramePr>
        <p:xfrm>
          <a:off x="2999232" y="1417320"/>
          <a:ext cx="5550408" cy="301752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02920" y="329184"/>
            <a:ext cx="8138160" cy="566928"/>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Kesimpulan</a:t>
            </a:r>
            <a:endParaRPr lang="en-US" sz="3000" dirty="0"/>
          </a:p>
        </p:txBody>
      </p:sp>
      <p:sp>
        <p:nvSpPr>
          <p:cNvPr id="3" name="Shape 1"/>
          <p:cNvSpPr/>
          <p:nvPr/>
        </p:nvSpPr>
        <p:spPr>
          <a:xfrm>
            <a:off x="502920" y="1225296"/>
            <a:ext cx="4023360" cy="1060704"/>
          </a:xfrm>
          <a:prstGeom prst="roundRect">
            <a:avLst>
              <a:gd name="adj" fmla="val 8621"/>
            </a:avLst>
          </a:prstGeom>
          <a:solidFill>
            <a:srgbClr val="FFFFFF"/>
          </a:solidFill>
          <a:ln/>
          <a:effectLst>
            <a:outerShdw sx="100000" sy="100000" kx="0" ky="0" algn="bl" rotWithShape="0" blurRad="127000" dist="25400" dir="5400000">
              <a:srgbClr val="8894B0">
                <a:alpha val="28000"/>
              </a:srgbClr>
            </a:outerShdw>
          </a:effectLst>
        </p:spPr>
      </p:sp>
      <p:sp>
        <p:nvSpPr>
          <p:cNvPr id="4" name="Shape 2"/>
          <p:cNvSpPr/>
          <p:nvPr/>
        </p:nvSpPr>
        <p:spPr>
          <a:xfrm>
            <a:off x="704088" y="1408176"/>
            <a:ext cx="310896" cy="310896"/>
          </a:xfrm>
          <a:prstGeom prst="ellipse">
            <a:avLst/>
          </a:prstGeom>
          <a:solidFill>
            <a:srgbClr val="1E2761"/>
          </a:solidFill>
          <a:ln/>
        </p:spPr>
      </p:sp>
      <p:sp>
        <p:nvSpPr>
          <p:cNvPr id="5" name="Text 3"/>
          <p:cNvSpPr/>
          <p:nvPr/>
        </p:nvSpPr>
        <p:spPr>
          <a:xfrm>
            <a:off x="704088" y="1408176"/>
            <a:ext cx="310896" cy="310896"/>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1</a:t>
            </a:r>
            <a:endParaRPr lang="en-US" sz="1450" dirty="0"/>
          </a:p>
        </p:txBody>
      </p:sp>
      <p:sp>
        <p:nvSpPr>
          <p:cNvPr id="6" name="Text 4"/>
          <p:cNvSpPr/>
          <p:nvPr/>
        </p:nvSpPr>
        <p:spPr>
          <a:xfrm>
            <a:off x="1106424" y="1389888"/>
            <a:ext cx="3200400" cy="310896"/>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Sistem terbangun</a:t>
            </a:r>
            <a:endParaRPr lang="en-US" sz="1350" dirty="0"/>
          </a:p>
        </p:txBody>
      </p:sp>
      <p:sp>
        <p:nvSpPr>
          <p:cNvPr id="7" name="Text 5"/>
          <p:cNvSpPr/>
          <p:nvPr/>
        </p:nvSpPr>
        <p:spPr>
          <a:xfrm>
            <a:off x="704088" y="1737360"/>
            <a:ext cx="3621024" cy="420624"/>
          </a:xfrm>
          <a:prstGeom prst="rect">
            <a:avLst/>
          </a:prstGeom>
          <a:noFill/>
          <a:ln/>
        </p:spPr>
        <p:txBody>
          <a:bodyPr wrap="square" lIns="0" tIns="0" rIns="0" bIns="0" rtlCol="0" anchor="t"/>
          <a:lstStyle/>
          <a:p>
            <a:pPr indent="0" marL="0">
              <a:lnSpc>
                <a:spcPts val="1300"/>
              </a:lnSpc>
              <a:buNone/>
            </a:pPr>
            <a:r>
              <a:rPr lang="en-US" sz="1050" dirty="0">
                <a:solidFill>
                  <a:srgbClr val="5A6484"/>
                </a:solidFill>
                <a:latin typeface="Calibri" pitchFamily="34" charset="0"/>
                <a:ea typeface="Calibri" pitchFamily="34" charset="-122"/>
                <a:cs typeface="Calibri" pitchFamily="34" charset="-120"/>
              </a:rPr>
              <a:t>Dua aplikasi terhubung REST API dengan satu basis data. Tagihan, pembayaran, dan pengeluaran terkumpul dalam satu sistem.</a:t>
            </a:r>
            <a:endParaRPr lang="en-US" sz="1050" dirty="0"/>
          </a:p>
        </p:txBody>
      </p:sp>
      <p:sp>
        <p:nvSpPr>
          <p:cNvPr id="8" name="Shape 6"/>
          <p:cNvSpPr/>
          <p:nvPr/>
        </p:nvSpPr>
        <p:spPr>
          <a:xfrm>
            <a:off x="4617720" y="1225296"/>
            <a:ext cx="4023360" cy="1060704"/>
          </a:xfrm>
          <a:prstGeom prst="roundRect">
            <a:avLst>
              <a:gd name="adj" fmla="val 8621"/>
            </a:avLst>
          </a:prstGeom>
          <a:solidFill>
            <a:srgbClr val="FFFFFF"/>
          </a:solidFill>
          <a:ln/>
          <a:effectLst>
            <a:outerShdw sx="100000" sy="100000" kx="0" ky="0" algn="bl" rotWithShape="0" blurRad="127000" dist="25400" dir="5400000">
              <a:srgbClr val="8894B0">
                <a:alpha val="28000"/>
              </a:srgbClr>
            </a:outerShdw>
          </a:effectLst>
        </p:spPr>
      </p:sp>
      <p:sp>
        <p:nvSpPr>
          <p:cNvPr id="9" name="Shape 7"/>
          <p:cNvSpPr/>
          <p:nvPr/>
        </p:nvSpPr>
        <p:spPr>
          <a:xfrm>
            <a:off x="4818888" y="1408176"/>
            <a:ext cx="310896" cy="310896"/>
          </a:xfrm>
          <a:prstGeom prst="ellipse">
            <a:avLst/>
          </a:prstGeom>
          <a:solidFill>
            <a:srgbClr val="1E2761"/>
          </a:solidFill>
          <a:ln/>
        </p:spPr>
      </p:sp>
      <p:sp>
        <p:nvSpPr>
          <p:cNvPr id="10" name="Text 8"/>
          <p:cNvSpPr/>
          <p:nvPr/>
        </p:nvSpPr>
        <p:spPr>
          <a:xfrm>
            <a:off x="4818888" y="1408176"/>
            <a:ext cx="310896" cy="310896"/>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2</a:t>
            </a:r>
            <a:endParaRPr lang="en-US" sz="1450" dirty="0"/>
          </a:p>
        </p:txBody>
      </p:sp>
      <p:sp>
        <p:nvSpPr>
          <p:cNvPr id="11" name="Text 9"/>
          <p:cNvSpPr/>
          <p:nvPr/>
        </p:nvSpPr>
        <p:spPr>
          <a:xfrm>
            <a:off x="5221224" y="1389888"/>
            <a:ext cx="3200400" cy="310896"/>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RBAC diterapkan</a:t>
            </a:r>
            <a:endParaRPr lang="en-US" sz="1350" dirty="0"/>
          </a:p>
        </p:txBody>
      </p:sp>
      <p:sp>
        <p:nvSpPr>
          <p:cNvPr id="12" name="Text 10"/>
          <p:cNvSpPr/>
          <p:nvPr/>
        </p:nvSpPr>
        <p:spPr>
          <a:xfrm>
            <a:off x="4818888" y="1737360"/>
            <a:ext cx="3621024" cy="420624"/>
          </a:xfrm>
          <a:prstGeom prst="rect">
            <a:avLst/>
          </a:prstGeom>
          <a:noFill/>
          <a:ln/>
        </p:spPr>
        <p:txBody>
          <a:bodyPr wrap="square" lIns="0" tIns="0" rIns="0" bIns="0" rtlCol="0" anchor="t"/>
          <a:lstStyle/>
          <a:p>
            <a:pPr indent="0" marL="0">
              <a:lnSpc>
                <a:spcPts val="1300"/>
              </a:lnSpc>
              <a:buNone/>
            </a:pPr>
            <a:r>
              <a:rPr lang="en-US" sz="1050" dirty="0">
                <a:solidFill>
                  <a:srgbClr val="5A6484"/>
                </a:solidFill>
                <a:latin typeface="Calibri" pitchFamily="34" charset="0"/>
                <a:ea typeface="Calibri" pitchFamily="34" charset="-122"/>
                <a:cs typeface="Calibri" pitchFamily="34" charset="-120"/>
              </a:rPr>
              <a:t>Lima peran dan 103 izin akses, diperiksa di sisi server, pemetaannya dapat diubah tanpa mengubah kode.</a:t>
            </a:r>
            <a:endParaRPr lang="en-US" sz="1050" dirty="0"/>
          </a:p>
        </p:txBody>
      </p:sp>
      <p:sp>
        <p:nvSpPr>
          <p:cNvPr id="13" name="Shape 11"/>
          <p:cNvSpPr/>
          <p:nvPr/>
        </p:nvSpPr>
        <p:spPr>
          <a:xfrm>
            <a:off x="502920" y="2359152"/>
            <a:ext cx="4023360" cy="1060704"/>
          </a:xfrm>
          <a:prstGeom prst="roundRect">
            <a:avLst>
              <a:gd name="adj" fmla="val 8621"/>
            </a:avLst>
          </a:prstGeom>
          <a:solidFill>
            <a:srgbClr val="FFFFFF"/>
          </a:solidFill>
          <a:ln/>
          <a:effectLst>
            <a:outerShdw sx="100000" sy="100000" kx="0" ky="0" algn="bl" rotWithShape="0" blurRad="127000" dist="25400" dir="5400000">
              <a:srgbClr val="8894B0">
                <a:alpha val="28000"/>
              </a:srgbClr>
            </a:outerShdw>
          </a:effectLst>
        </p:spPr>
      </p:sp>
      <p:sp>
        <p:nvSpPr>
          <p:cNvPr id="14" name="Shape 12"/>
          <p:cNvSpPr/>
          <p:nvPr/>
        </p:nvSpPr>
        <p:spPr>
          <a:xfrm>
            <a:off x="704088" y="2542032"/>
            <a:ext cx="310896" cy="310896"/>
          </a:xfrm>
          <a:prstGeom prst="ellipse">
            <a:avLst/>
          </a:prstGeom>
          <a:solidFill>
            <a:srgbClr val="1E2761"/>
          </a:solidFill>
          <a:ln/>
        </p:spPr>
      </p:sp>
      <p:sp>
        <p:nvSpPr>
          <p:cNvPr id="15" name="Text 13"/>
          <p:cNvSpPr/>
          <p:nvPr/>
        </p:nvSpPr>
        <p:spPr>
          <a:xfrm>
            <a:off x="704088" y="2542032"/>
            <a:ext cx="310896" cy="310896"/>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3</a:t>
            </a:r>
            <a:endParaRPr lang="en-US" sz="1450" dirty="0"/>
          </a:p>
        </p:txBody>
      </p:sp>
      <p:sp>
        <p:nvSpPr>
          <p:cNvPr id="16" name="Text 14"/>
          <p:cNvSpPr/>
          <p:nvPr/>
        </p:nvSpPr>
        <p:spPr>
          <a:xfrm>
            <a:off x="1106424" y="2523744"/>
            <a:ext cx="3200400" cy="310896"/>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Approval berjalan</a:t>
            </a:r>
            <a:endParaRPr lang="en-US" sz="1350" dirty="0"/>
          </a:p>
        </p:txBody>
      </p:sp>
      <p:sp>
        <p:nvSpPr>
          <p:cNvPr id="17" name="Text 15"/>
          <p:cNvSpPr/>
          <p:nvPr/>
        </p:nvSpPr>
        <p:spPr>
          <a:xfrm>
            <a:off x="704088" y="2871216"/>
            <a:ext cx="3621024" cy="420624"/>
          </a:xfrm>
          <a:prstGeom prst="rect">
            <a:avLst/>
          </a:prstGeom>
          <a:noFill/>
          <a:ln/>
        </p:spPr>
        <p:txBody>
          <a:bodyPr wrap="square" lIns="0" tIns="0" rIns="0" bIns="0" rtlCol="0" anchor="t"/>
          <a:lstStyle/>
          <a:p>
            <a:pPr indent="0" marL="0">
              <a:lnSpc>
                <a:spcPts val="1300"/>
              </a:lnSpc>
              <a:buNone/>
            </a:pPr>
            <a:r>
              <a:rPr lang="en-US" sz="1050" dirty="0">
                <a:solidFill>
                  <a:srgbClr val="5A6484"/>
                </a:solidFill>
                <a:latin typeface="Calibri" pitchFamily="34" charset="0"/>
                <a:ea typeface="Calibri" pitchFamily="34" charset="-122"/>
                <a:cs typeface="Calibri" pitchFamily="34" charset="-120"/>
              </a:rPr>
              <a:t>Status bertahap dari pengajuan sampai pencairan, dengan persetujuan otomatis per cabang.</a:t>
            </a:r>
            <a:endParaRPr lang="en-US" sz="1050" dirty="0"/>
          </a:p>
        </p:txBody>
      </p:sp>
      <p:sp>
        <p:nvSpPr>
          <p:cNvPr id="18" name="Shape 16"/>
          <p:cNvSpPr/>
          <p:nvPr/>
        </p:nvSpPr>
        <p:spPr>
          <a:xfrm>
            <a:off x="4617720" y="2359152"/>
            <a:ext cx="4023360" cy="1060704"/>
          </a:xfrm>
          <a:prstGeom prst="roundRect">
            <a:avLst>
              <a:gd name="adj" fmla="val 8621"/>
            </a:avLst>
          </a:prstGeom>
          <a:solidFill>
            <a:srgbClr val="FFFFFF"/>
          </a:solidFill>
          <a:ln/>
          <a:effectLst>
            <a:outerShdw sx="100000" sy="100000" kx="0" ky="0" algn="bl" rotWithShape="0" blurRad="127000" dist="25400" dir="5400000">
              <a:srgbClr val="8894B0">
                <a:alpha val="28000"/>
              </a:srgbClr>
            </a:outerShdw>
          </a:effectLst>
        </p:spPr>
      </p:sp>
      <p:sp>
        <p:nvSpPr>
          <p:cNvPr id="19" name="Shape 17"/>
          <p:cNvSpPr/>
          <p:nvPr/>
        </p:nvSpPr>
        <p:spPr>
          <a:xfrm>
            <a:off x="4818888" y="2542032"/>
            <a:ext cx="310896" cy="310896"/>
          </a:xfrm>
          <a:prstGeom prst="ellipse">
            <a:avLst/>
          </a:prstGeom>
          <a:solidFill>
            <a:srgbClr val="1E2761"/>
          </a:solidFill>
          <a:ln/>
        </p:spPr>
      </p:sp>
      <p:sp>
        <p:nvSpPr>
          <p:cNvPr id="20" name="Text 18"/>
          <p:cNvSpPr/>
          <p:nvPr/>
        </p:nvSpPr>
        <p:spPr>
          <a:xfrm>
            <a:off x="4818888" y="2542032"/>
            <a:ext cx="310896" cy="310896"/>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4</a:t>
            </a:r>
            <a:endParaRPr lang="en-US" sz="1450" dirty="0"/>
          </a:p>
        </p:txBody>
      </p:sp>
      <p:sp>
        <p:nvSpPr>
          <p:cNvPr id="21" name="Text 19"/>
          <p:cNvSpPr/>
          <p:nvPr/>
        </p:nvSpPr>
        <p:spPr>
          <a:xfrm>
            <a:off x="5221224" y="2523744"/>
            <a:ext cx="3200400" cy="310896"/>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Midtrans terintegrasi</a:t>
            </a:r>
            <a:endParaRPr lang="en-US" sz="1350" dirty="0"/>
          </a:p>
        </p:txBody>
      </p:sp>
      <p:sp>
        <p:nvSpPr>
          <p:cNvPr id="22" name="Text 20"/>
          <p:cNvSpPr/>
          <p:nvPr/>
        </p:nvSpPr>
        <p:spPr>
          <a:xfrm>
            <a:off x="4818888" y="2871216"/>
            <a:ext cx="3621024" cy="420624"/>
          </a:xfrm>
          <a:prstGeom prst="rect">
            <a:avLst/>
          </a:prstGeom>
          <a:noFill/>
          <a:ln/>
        </p:spPr>
        <p:txBody>
          <a:bodyPr wrap="square" lIns="0" tIns="0" rIns="0" bIns="0" rtlCol="0" anchor="t"/>
          <a:lstStyle/>
          <a:p>
            <a:pPr indent="0" marL="0">
              <a:lnSpc>
                <a:spcPts val="1300"/>
              </a:lnSpc>
              <a:buNone/>
            </a:pPr>
            <a:r>
              <a:rPr lang="en-US" sz="1050" dirty="0">
                <a:solidFill>
                  <a:srgbClr val="5A6484"/>
                </a:solidFill>
                <a:latin typeface="Calibri" pitchFamily="34" charset="0"/>
                <a:ea typeface="Calibri" pitchFamily="34" charset="-122"/>
                <a:cs typeface="Calibri" pitchFamily="34" charset="-120"/>
              </a:rPr>
              <a:t>Terbukti berfungsi melalui transaksi nyata pada lingkungan sandbox, status diperbarui via webhook.</a:t>
            </a:r>
            <a:endParaRPr lang="en-US" sz="1050" dirty="0"/>
          </a:p>
        </p:txBody>
      </p:sp>
      <p:sp>
        <p:nvSpPr>
          <p:cNvPr id="23" name="Shape 21"/>
          <p:cNvSpPr/>
          <p:nvPr/>
        </p:nvSpPr>
        <p:spPr>
          <a:xfrm>
            <a:off x="502920" y="3493008"/>
            <a:ext cx="4023360" cy="1060704"/>
          </a:xfrm>
          <a:prstGeom prst="roundRect">
            <a:avLst>
              <a:gd name="adj" fmla="val 8621"/>
            </a:avLst>
          </a:prstGeom>
          <a:solidFill>
            <a:srgbClr val="FFFFFF"/>
          </a:solidFill>
          <a:ln/>
          <a:effectLst>
            <a:outerShdw sx="100000" sy="100000" kx="0" ky="0" algn="bl" rotWithShape="0" blurRad="127000" dist="25400" dir="5400000">
              <a:srgbClr val="8894B0">
                <a:alpha val="28000"/>
              </a:srgbClr>
            </a:outerShdw>
          </a:effectLst>
        </p:spPr>
      </p:sp>
      <p:sp>
        <p:nvSpPr>
          <p:cNvPr id="24" name="Shape 22"/>
          <p:cNvSpPr/>
          <p:nvPr/>
        </p:nvSpPr>
        <p:spPr>
          <a:xfrm>
            <a:off x="704088" y="3675888"/>
            <a:ext cx="310896" cy="310896"/>
          </a:xfrm>
          <a:prstGeom prst="ellipse">
            <a:avLst/>
          </a:prstGeom>
          <a:solidFill>
            <a:srgbClr val="1E2761"/>
          </a:solidFill>
          <a:ln/>
        </p:spPr>
      </p:sp>
      <p:sp>
        <p:nvSpPr>
          <p:cNvPr id="25" name="Text 23"/>
          <p:cNvSpPr/>
          <p:nvPr/>
        </p:nvSpPr>
        <p:spPr>
          <a:xfrm>
            <a:off x="704088" y="3675888"/>
            <a:ext cx="310896" cy="310896"/>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5</a:t>
            </a:r>
            <a:endParaRPr lang="en-US" sz="1450" dirty="0"/>
          </a:p>
        </p:txBody>
      </p:sp>
      <p:sp>
        <p:nvSpPr>
          <p:cNvPr id="26" name="Text 24"/>
          <p:cNvSpPr/>
          <p:nvPr/>
        </p:nvSpPr>
        <p:spPr>
          <a:xfrm>
            <a:off x="1106424" y="3657600"/>
            <a:ext cx="3200400" cy="310896"/>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Fitur pendukung tersedia</a:t>
            </a:r>
            <a:endParaRPr lang="en-US" sz="1350" dirty="0"/>
          </a:p>
        </p:txBody>
      </p:sp>
      <p:sp>
        <p:nvSpPr>
          <p:cNvPr id="27" name="Text 25"/>
          <p:cNvSpPr/>
          <p:nvPr/>
        </p:nvSpPr>
        <p:spPr>
          <a:xfrm>
            <a:off x="704088" y="4005072"/>
            <a:ext cx="3621024" cy="420624"/>
          </a:xfrm>
          <a:prstGeom prst="rect">
            <a:avLst/>
          </a:prstGeom>
          <a:noFill/>
          <a:ln/>
        </p:spPr>
        <p:txBody>
          <a:bodyPr wrap="square" lIns="0" tIns="0" rIns="0" bIns="0" rtlCol="0" anchor="t"/>
          <a:lstStyle/>
          <a:p>
            <a:pPr indent="0" marL="0">
              <a:lnSpc>
                <a:spcPts val="1300"/>
              </a:lnSpc>
              <a:buNone/>
            </a:pPr>
            <a:r>
              <a:rPr lang="en-US" sz="1050" dirty="0">
                <a:solidFill>
                  <a:srgbClr val="5A6484"/>
                </a:solidFill>
                <a:latin typeface="Calibri" pitchFamily="34" charset="0"/>
                <a:ea typeface="Calibri" pitchFamily="34" charset="-122"/>
                <a:cs typeface="Calibri" pitchFamily="34" charset="-120"/>
              </a:rPr>
              <a:t>Dashboard monitoring, empat jenis notifikasi surel, serta import dan export berbasis Excel.</a:t>
            </a:r>
            <a:endParaRPr lang="en-US" sz="1050" dirty="0"/>
          </a:p>
        </p:txBody>
      </p:sp>
      <p:sp>
        <p:nvSpPr>
          <p:cNvPr id="28" name="Shape 26"/>
          <p:cNvSpPr/>
          <p:nvPr/>
        </p:nvSpPr>
        <p:spPr>
          <a:xfrm>
            <a:off x="4617720" y="3493008"/>
            <a:ext cx="4023360" cy="1060704"/>
          </a:xfrm>
          <a:prstGeom prst="roundRect">
            <a:avLst>
              <a:gd name="adj" fmla="val 8621"/>
            </a:avLst>
          </a:prstGeom>
          <a:solidFill>
            <a:srgbClr val="FFFFFF"/>
          </a:solidFill>
          <a:ln/>
          <a:effectLst>
            <a:outerShdw sx="100000" sy="100000" kx="0" ky="0" algn="bl" rotWithShape="0" blurRad="127000" dist="25400" dir="5400000">
              <a:srgbClr val="8894B0">
                <a:alpha val="28000"/>
              </a:srgbClr>
            </a:outerShdw>
          </a:effectLst>
        </p:spPr>
      </p:sp>
      <p:sp>
        <p:nvSpPr>
          <p:cNvPr id="29" name="Shape 27"/>
          <p:cNvSpPr/>
          <p:nvPr/>
        </p:nvSpPr>
        <p:spPr>
          <a:xfrm>
            <a:off x="4818888" y="3675888"/>
            <a:ext cx="310896" cy="310896"/>
          </a:xfrm>
          <a:prstGeom prst="ellipse">
            <a:avLst/>
          </a:prstGeom>
          <a:solidFill>
            <a:srgbClr val="1E2761"/>
          </a:solidFill>
          <a:ln/>
        </p:spPr>
      </p:sp>
      <p:sp>
        <p:nvSpPr>
          <p:cNvPr id="30" name="Text 28"/>
          <p:cNvSpPr/>
          <p:nvPr/>
        </p:nvSpPr>
        <p:spPr>
          <a:xfrm>
            <a:off x="4818888" y="3675888"/>
            <a:ext cx="310896" cy="310896"/>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6</a:t>
            </a:r>
            <a:endParaRPr lang="en-US" sz="1450" dirty="0"/>
          </a:p>
        </p:txBody>
      </p:sp>
      <p:sp>
        <p:nvSpPr>
          <p:cNvPr id="31" name="Text 29"/>
          <p:cNvSpPr/>
          <p:nvPr/>
        </p:nvSpPr>
        <p:spPr>
          <a:xfrm>
            <a:off x="5221224" y="3657600"/>
            <a:ext cx="3200400" cy="310896"/>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Pengujian tuntas</a:t>
            </a:r>
            <a:endParaRPr lang="en-US" sz="1350" dirty="0"/>
          </a:p>
        </p:txBody>
      </p:sp>
      <p:sp>
        <p:nvSpPr>
          <p:cNvPr id="32" name="Text 30"/>
          <p:cNvSpPr/>
          <p:nvPr/>
        </p:nvSpPr>
        <p:spPr>
          <a:xfrm>
            <a:off x="4818888" y="4005072"/>
            <a:ext cx="3621024" cy="420624"/>
          </a:xfrm>
          <a:prstGeom prst="rect">
            <a:avLst/>
          </a:prstGeom>
          <a:noFill/>
          <a:ln/>
        </p:spPr>
        <p:txBody>
          <a:bodyPr wrap="square" lIns="0" tIns="0" rIns="0" bIns="0" rtlCol="0" anchor="t"/>
          <a:lstStyle/>
          <a:p>
            <a:pPr indent="0" marL="0">
              <a:lnSpc>
                <a:spcPts val="1300"/>
              </a:lnSpc>
              <a:buNone/>
            </a:pPr>
            <a:r>
              <a:rPr lang="en-US" sz="1050" dirty="0">
                <a:solidFill>
                  <a:srgbClr val="5A6484"/>
                </a:solidFill>
                <a:latin typeface="Calibri" pitchFamily="34" charset="0"/>
                <a:ea typeface="Calibri" pitchFamily="34" charset="-122"/>
                <a:cs typeface="Calibri" pitchFamily="34" charset="-120"/>
              </a:rPr>
              <a:t>102 kasus uji seluruhnya berstatus PASS, tingkat keberhasilan 100 persen.</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B47"/>
        </a:solidFill>
      </p:bgPr>
    </p:bg>
    <p:spTree>
      <p:nvGrpSpPr>
        <p:cNvPr id="1" name=""/>
        <p:cNvGrpSpPr/>
        <p:nvPr/>
      </p:nvGrpSpPr>
      <p:grpSpPr>
        <a:xfrm>
          <a:off x="0" y="0"/>
          <a:ext cx="0" cy="0"/>
          <a:chOff x="0" y="0"/>
          <a:chExt cx="0" cy="0"/>
        </a:xfrm>
      </p:grpSpPr>
      <p:sp>
        <p:nvSpPr>
          <p:cNvPr id="2" name="Shape 0"/>
          <p:cNvSpPr/>
          <p:nvPr/>
        </p:nvSpPr>
        <p:spPr>
          <a:xfrm>
            <a:off x="-1463040" y="2743200"/>
            <a:ext cx="3840480" cy="3840480"/>
          </a:xfrm>
          <a:prstGeom prst="ellipse">
            <a:avLst/>
          </a:prstGeom>
          <a:solidFill>
            <a:srgbClr val="1E2761">
              <a:alpha val="60000"/>
            </a:srgbClr>
          </a:solidFill>
          <a:ln/>
        </p:spPr>
      </p:sp>
      <p:sp>
        <p:nvSpPr>
          <p:cNvPr id="3" name="Shape 1"/>
          <p:cNvSpPr/>
          <p:nvPr/>
        </p:nvSpPr>
        <p:spPr>
          <a:xfrm>
            <a:off x="7132320" y="-1097280"/>
            <a:ext cx="3291840" cy="3291840"/>
          </a:xfrm>
          <a:prstGeom prst="ellipse">
            <a:avLst/>
          </a:prstGeom>
          <a:solidFill>
            <a:srgbClr val="1E2761">
              <a:alpha val="55000"/>
            </a:srgbClr>
          </a:solidFill>
          <a:ln/>
        </p:spPr>
      </p:sp>
      <p:sp>
        <p:nvSpPr>
          <p:cNvPr id="4" name="Text 2"/>
          <p:cNvSpPr/>
          <p:nvPr/>
        </p:nvSpPr>
        <p:spPr>
          <a:xfrm>
            <a:off x="640080" y="1755648"/>
            <a:ext cx="7863840" cy="822960"/>
          </a:xfrm>
          <a:prstGeom prst="rect">
            <a:avLst/>
          </a:prstGeom>
          <a:noFill/>
          <a:ln/>
        </p:spPr>
        <p:txBody>
          <a:bodyPr wrap="square" lIns="0" tIns="0" rIns="0" bIns="0" rtlCol="0" anchor="ctr"/>
          <a:lstStyle/>
          <a:p>
            <a:pPr algn="ctr" indent="0" marL="0">
              <a:buNone/>
            </a:pPr>
            <a:r>
              <a:rPr lang="en-US" sz="4200" b="1" dirty="0">
                <a:solidFill>
                  <a:srgbClr val="FFFFFF"/>
                </a:solidFill>
                <a:latin typeface="Cambria" pitchFamily="34" charset="0"/>
                <a:ea typeface="Cambria" pitchFamily="34" charset="-122"/>
                <a:cs typeface="Cambria" pitchFamily="34" charset="-120"/>
              </a:rPr>
              <a:t>Terima Kasih</a:t>
            </a:r>
            <a:endParaRPr lang="en-US" sz="4200" dirty="0"/>
          </a:p>
        </p:txBody>
      </p:sp>
      <p:sp>
        <p:nvSpPr>
          <p:cNvPr id="5" name="Text 3"/>
          <p:cNvSpPr/>
          <p:nvPr/>
        </p:nvSpPr>
        <p:spPr>
          <a:xfrm>
            <a:off x="640080" y="2615184"/>
            <a:ext cx="7863840" cy="292608"/>
          </a:xfrm>
          <a:prstGeom prst="rect">
            <a:avLst/>
          </a:prstGeom>
          <a:noFill/>
          <a:ln/>
        </p:spPr>
        <p:txBody>
          <a:bodyPr wrap="square" lIns="0" tIns="0" rIns="0" bIns="0" rtlCol="0" anchor="ctr"/>
          <a:lstStyle/>
          <a:p>
            <a:pPr algn="ctr" indent="0" marL="0">
              <a:buNone/>
            </a:pPr>
            <a:r>
              <a:rPr lang="en-US" sz="1400" dirty="0">
                <a:solidFill>
                  <a:srgbClr val="CADCFC"/>
                </a:solidFill>
                <a:latin typeface="Calibri" pitchFamily="34" charset="0"/>
                <a:ea typeface="Calibri" pitchFamily="34" charset="-122"/>
                <a:cs typeface="Calibri" pitchFamily="34" charset="-120"/>
              </a:rPr>
              <a:t>Sesi tanya jawab dan masukan dari Bapak/Ibu penguji</a:t>
            </a:r>
            <a:endParaRPr lang="en-US" sz="1400" dirty="0"/>
          </a:p>
        </p:txBody>
      </p:sp>
      <p:sp>
        <p:nvSpPr>
          <p:cNvPr id="6" name="Text 4"/>
          <p:cNvSpPr/>
          <p:nvPr/>
        </p:nvSpPr>
        <p:spPr>
          <a:xfrm>
            <a:off x="640080" y="3310128"/>
            <a:ext cx="7863840" cy="256032"/>
          </a:xfrm>
          <a:prstGeom prst="rect">
            <a:avLst/>
          </a:prstGeom>
          <a:noFill/>
          <a:ln/>
        </p:spPr>
        <p:txBody>
          <a:bodyPr wrap="square" lIns="0" tIns="0" rIns="0" bIns="0" rtlCol="0" anchor="ctr"/>
          <a:lstStyle/>
          <a:p>
            <a:pPr algn="ctr" indent="0" marL="0">
              <a:buNone/>
            </a:pPr>
            <a:r>
              <a:rPr lang="en-US" sz="1200" dirty="0">
                <a:solidFill>
                  <a:srgbClr val="9FB0D8"/>
                </a:solidFill>
                <a:latin typeface="Calibri" pitchFamily="34" charset="0"/>
                <a:ea typeface="Calibri" pitchFamily="34" charset="-122"/>
                <a:cs typeface="Calibri" pitchFamily="34" charset="-120"/>
              </a:rPr>
              <a:t>Muhammad Fathurrahman Rizki Perdana  ·  NIM 3202316079</a:t>
            </a:r>
            <a:endParaRPr lang="en-US" sz="1200" dirty="0"/>
          </a:p>
        </p:txBody>
      </p:sp>
      <p:sp>
        <p:nvSpPr>
          <p:cNvPr id="7" name="Text 5"/>
          <p:cNvSpPr/>
          <p:nvPr/>
        </p:nvSpPr>
        <p:spPr>
          <a:xfrm>
            <a:off x="640080" y="3584448"/>
            <a:ext cx="7863840" cy="256032"/>
          </a:xfrm>
          <a:prstGeom prst="rect">
            <a:avLst/>
          </a:prstGeom>
          <a:noFill/>
          <a:ln/>
        </p:spPr>
        <p:txBody>
          <a:bodyPr wrap="square" lIns="0" tIns="0" rIns="0" bIns="0" rtlCol="0" anchor="ctr"/>
          <a:lstStyle/>
          <a:p>
            <a:pPr algn="ctr" indent="0" marL="0">
              <a:buNone/>
            </a:pPr>
            <a:r>
              <a:rPr lang="en-US" sz="1100" dirty="0">
                <a:solidFill>
                  <a:srgbClr val="7E8DB8"/>
                </a:solidFill>
                <a:latin typeface="Calibri" pitchFamily="34" charset="0"/>
                <a:ea typeface="Calibri" pitchFamily="34" charset="-122"/>
                <a:cs typeface="Calibri" pitchFamily="34" charset="-120"/>
              </a:rPr>
              <a:t>D3 Teknik Informatika  ·  Politeknik Negeri Pontianak  ·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Sidang Tugas Akhir - Sistem Informasi Keuangan SPP LPA Handayani</dc:title>
  <dc:subject>PptxGenJS Presentation</dc:subject>
  <dc:creator>Muhammad Fathurrahman Rizki Perdana</dc:creator>
  <cp:lastModifiedBy>Muhammad Fathurrahman Rizki Perdana</cp:lastModifiedBy>
  <cp:revision>1</cp:revision>
  <dcterms:created xsi:type="dcterms:W3CDTF">2026-08-05T12:25:03Z</dcterms:created>
  <dcterms:modified xsi:type="dcterms:W3CDTF">2026-08-05T12:25:03Z</dcterms:modified>
</cp:coreProperties>
</file>